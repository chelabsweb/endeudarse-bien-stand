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448056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4480560" cy="329184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200" b="1">
                <a:solidFill>
                  <a:srgbClr val="1B1F3A"/>
                </a:solidFill>
                <a:latin typeface="Arial"/>
              </a:rPr>
              <a:t>PIN! · INJU · BCU · CAF  —  CENTRAL PARA 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338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0">
                <a:solidFill>
                  <a:srgbClr val="1B1F3A"/>
                </a:solidFill>
                <a:latin typeface="Arial Black"/>
              </a:rPr>
              <a:t>ENDEUDARSE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600" b="0">
                <a:solidFill>
                  <a:srgbClr val="FF48B0"/>
                </a:solidFill>
                <a:latin typeface="Arial Black"/>
              </a:rPr>
              <a:t>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B1F3A"/>
                </a:solidFill>
                <a:latin typeface="Arial"/>
              </a:rPr>
              <a:t>Taller 3 · Decisiones financieras informadas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4462272"/>
            <a:ext cx="6949440" cy="9601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389120"/>
            <a:ext cx="6949440" cy="960120"/>
          </a:xfrm>
          <a:prstGeom prst="rect">
            <a:avLst/>
          </a:prstGeom>
          <a:solidFill>
            <a:srgbClr val="FFD50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/>
            <a:r>
              <a:rPr sz="1700">
                <a:solidFill>
                  <a:srgbClr val="1B1F3A"/>
                </a:solidFill>
                <a:latin typeface="Arial Black"/>
              </a:rPr>
              <a:t>FORMACIÓN DE FORMADORES · EDICIÓN JUEGO 2026</a:t>
            </a:r>
          </a:p>
          <a:p>
            <a:r>
              <a:rPr sz="1400" b="1">
                <a:solidFill>
                  <a:srgbClr val="1B1F3A"/>
                </a:solidFill>
                <a:latin typeface="Arial"/>
              </a:rPr>
              <a:t>El taller ahora se juega: 3 máquinas en equipos + tablero en vivo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132588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623560"/>
            <a:ext cx="1325880" cy="329184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EQUIPO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79" y="5669280"/>
            <a:ext cx="132588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5623560"/>
            <a:ext cx="1325880" cy="329184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EQUIPO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5669280"/>
            <a:ext cx="132588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5623560"/>
            <a:ext cx="1325880" cy="329184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EQUIPO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5669280"/>
            <a:ext cx="210312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623560"/>
            <a:ext cx="2103120" cy="329184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200" b="1">
                <a:solidFill>
                  <a:srgbClr val="FFD500"/>
                </a:solidFill>
                <a:latin typeface="Arial"/>
              </a:rPr>
              <a:t>PROYECTOR EN VIVO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LA EDICIÓN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Qué cambió: el taller ahora se juega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5394960" cy="41148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394960" cy="41148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9377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6E6656"/>
                </a:solidFill>
                <a:latin typeface="Arial Black"/>
              </a:rPr>
              <a:t>ANTES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B1F3A"/>
                </a:solidFill>
                <a:latin typeface="Arial"/>
              </a:rPr>
              <a:t>• Slides con casos leídos en voz alta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B1F3A"/>
                </a:solidFill>
                <a:latin typeface="Arial"/>
              </a:rPr>
              <a:t>• Preguntas orales y anotación en pizarra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B1F3A"/>
                </a:solidFill>
                <a:latin typeface="Arial"/>
              </a:rPr>
              <a:t>• Kahoot como quiz aparte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B1F3A"/>
                </a:solidFill>
                <a:latin typeface="Arial"/>
              </a:rPr>
              <a:t>• Los datos del BCU contados, no vividos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B1F3A"/>
                </a:solidFill>
                <a:latin typeface="Arial"/>
              </a:rPr>
              <a:t>• Difícil con 20 participantes y pocas máquinas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673352"/>
            <a:ext cx="5394960" cy="41148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394960" cy="4114800"/>
          </a:xfrm>
          <a:prstGeom prst="rect">
            <a:avLst/>
          </a:prstGeom>
          <a:solidFill>
            <a:srgbClr val="FFD50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B1F3A"/>
                </a:solidFill>
                <a:latin typeface="Arial Black"/>
              </a:rPr>
              <a:t>AHORA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• El juego "12 Meses": un año en la piel de Joaquín, 10 decisiones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• 3 equipos juegan A LA VEZ, mismos eventos, ranking en vivo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• Los datos del BCU aparecen DENTRO del juego como quizzes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• El proyector es el tablero: toda la sala mira la carrera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• Cada participante se lleva el juego en su celular (QR)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978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F3A"/>
                </a:solidFill>
                <a:latin typeface="Arial"/>
              </a:rPr>
              <a:t>El juego, siempre listo en:  </a:t>
            </a:r>
            <a:r>
              <a:rPr sz="1600" b="1">
                <a:solidFill>
                  <a:srgbClr val="0078BF"/>
                </a:solidFill>
                <a:latin typeface="Arial"/>
              </a:rPr>
              <a:t>chelabsweb.github.io/endeudarse-bien-stand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PROPÓSITO DEL TALLER (MANUAL PIN!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Lo que el taller tiene que lograr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19072"/>
            <a:ext cx="5440680" cy="16916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40680" cy="16916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01168" cy="1691640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F3A"/>
                </a:solidFill>
                <a:latin typeface="Arial Black"/>
              </a:rPr>
              <a:t>REFLEXIÓN PRÁCTICA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Guiar una reflexión sobre el impacto del endeudamiento en la estabilidad financiera propia.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719072"/>
            <a:ext cx="5440680" cy="16916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440680" cy="16916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201168" cy="1691640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F3A"/>
                </a:solidFill>
                <a:latin typeface="Arial Black"/>
              </a:rPr>
              <a:t>OPCIONES REALES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Identificar las opciones de financiamiento disponibles en Uruguay con casos verosímiles.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685032"/>
            <a:ext cx="5440680" cy="16916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11880"/>
            <a:ext cx="5440680" cy="16916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201168" cy="1691640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776472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F3A"/>
                </a:solidFill>
                <a:latin typeface="Arial Black"/>
              </a:rPr>
              <a:t>HUELLA FINANCIERA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Entender dónde queda registrada (BCU y Clearing de Informes) y cómo consultarla gratis.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3685032"/>
            <a:ext cx="5440680" cy="16916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11880"/>
            <a:ext cx="5440680" cy="16916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11880"/>
            <a:ext cx="201168" cy="169164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776472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B1F3A"/>
                </a:solidFill>
                <a:latin typeface="Arial Black"/>
              </a:rPr>
              <a:t>MODELO PAMY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Evaluar un préstamo en 4 pasos: ¿Preciso? ¿Ahorro? ¿Mejores? ¿Y después?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5060"/>
                </a:solidFill>
                <a:latin typeface="Arial"/>
              </a:rPr>
              <a:t>Idea fuerza oficial: un préstamo debe verse como un COMPROMISO DE AHORRO, no como una solución inmediata.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ESTRUCTURA · 90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La agenda, con el juego en el centro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1627632"/>
            <a:ext cx="11155680" cy="69494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694944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737360"/>
            <a:ext cx="777240" cy="438912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00784"/>
            <a:ext cx="777240" cy="438912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Arial Black"/>
              </a:rPr>
              <a:t>5'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36776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F3A"/>
                </a:solidFill>
                <a:latin typeface="Arial Black"/>
              </a:rPr>
              <a:t>Bienvenida y propósito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36776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F3A"/>
                </a:solidFill>
                <a:latin typeface="Arial"/>
              </a:rPr>
              <a:t>Endeudarse bien: decisiones informadas. Presentar equipos y máquinas.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" y="2414016"/>
            <a:ext cx="11155680" cy="69494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59152"/>
            <a:ext cx="11155680" cy="694944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2523744"/>
            <a:ext cx="777240" cy="438912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87168"/>
            <a:ext cx="777240" cy="438912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Arial Black"/>
              </a:rPr>
              <a:t>15'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2316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F3A"/>
                </a:solidFill>
                <a:latin typeface="Arial Black"/>
              </a:rPr>
              <a:t>Parte I · Desafío financiero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F3A"/>
                </a:solidFill>
                <a:latin typeface="Arial"/>
              </a:rPr>
              <a:t>Rompehielo "100 uruguayos dicen": las 2 preguntas oficiales definen los equipos.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" y="3200400"/>
            <a:ext cx="11155680" cy="69494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45536"/>
            <a:ext cx="11155680" cy="694944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" y="3310128"/>
            <a:ext cx="777240" cy="438912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73552"/>
            <a:ext cx="777240" cy="438912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Arial Black"/>
              </a:rPr>
              <a:t>25'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209544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F3A"/>
                </a:solidFill>
                <a:latin typeface="Arial Black"/>
              </a:rPr>
              <a:t>Parte II · La partida "12 Meses"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9544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F3A"/>
                </a:solidFill>
                <a:latin typeface="Arial"/>
              </a:rPr>
              <a:t>3 equipos, mismos eventos, ranking en vivo en el proyector. PAMY y quizzes viven acá.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" y="3986783"/>
            <a:ext cx="11155680" cy="69494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11155680" cy="694944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" y="4096511"/>
            <a:ext cx="777240" cy="438912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59935"/>
            <a:ext cx="777240" cy="438912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Arial Black"/>
              </a:rPr>
              <a:t>15'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9592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F3A"/>
                </a:solidFill>
                <a:latin typeface="Arial Black"/>
              </a:rPr>
              <a:t>Parte III · La huella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995928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F3A"/>
                </a:solidFill>
                <a:latin typeface="Arial"/>
              </a:rPr>
              <a:t>Leer el podio: intereses, marcas. Los dos espejos (BCU/Clearing) y ¿le prestarían a Joaquín?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" y="4773168"/>
            <a:ext cx="11155680" cy="69494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718304"/>
            <a:ext cx="11155680" cy="694944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" y="4882896"/>
            <a:ext cx="777240" cy="438912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777240" cy="438912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B1F3A"/>
                </a:solidFill>
                <a:latin typeface="Arial Black"/>
              </a:rPr>
              <a:t>15'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782312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F3A"/>
                </a:solidFill>
                <a:latin typeface="Arial Black"/>
              </a:rPr>
              <a:t>Parte IV · Decidir consciente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782312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F3A"/>
                </a:solidFill>
                <a:latin typeface="Arial"/>
              </a:rPr>
              <a:t>Interacción con la IA asesora en rol de Joaquín. Escala 1-7 antes y después.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" y="5559552"/>
            <a:ext cx="11155680" cy="69494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504688"/>
            <a:ext cx="11155680" cy="694944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" y="5669280"/>
            <a:ext cx="777240" cy="438912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632704"/>
            <a:ext cx="777240" cy="438912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Arial Black"/>
              </a:rPr>
              <a:t>10'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568696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F3A"/>
                </a:solidFill>
                <a:latin typeface="Arial Black"/>
              </a:rPr>
              <a:t>Cierre + ticket de salida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568696"/>
            <a:ext cx="6492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F3A"/>
                </a:solidFill>
                <a:latin typeface="Arial"/>
              </a:rPr>
              <a:t>Minuto de oro por equipo + QR "llevate el juego" y consultá tu huella. (+5' transiciones)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ANTES DE QUE LLEGUE EL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Setup técnico: 10 minutos y listo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27632"/>
            <a:ext cx="6858000" cy="448056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6858000" cy="448056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6400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078BF"/>
                </a:solidFill>
                <a:latin typeface="Arial Black"/>
              </a:rPr>
              <a:t>CHECKLIST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1 · 3 máquinas o tablets con el juego abierto (la URL de abajo). Con abrirlo una vez, queda cacheado.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2 · 1 computadora conectada al proyector, también con el juego.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3 · Wifi para las 4 máquinas: el modo Sala lo necesita.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4 · Elegí un código de sala de 4 letras (ej. MOTO) y anotalo grande en la pizarra.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5 · En cada máquina: SALA → código → nombre del equipo (hasta 12 letras).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6 · En el proyector: SALA → código → "PROYECTOR: SOLO MIRAR".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B1F3A"/>
                </a:solidFill>
                <a:latin typeface="Arial"/>
              </a:rPr>
              <a:t>7 · Desde el proyector se arranca la partida y la revancha. Vos tenés el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8392" y="1627632"/>
            <a:ext cx="4023360" cy="27432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554480"/>
            <a:ext cx="4023360" cy="2743200"/>
          </a:xfrm>
          <a:prstGeom prst="rect">
            <a:avLst/>
          </a:prstGeom>
          <a:solidFill>
            <a:srgbClr val="F1506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566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 Black"/>
              </a:rPr>
              <a:t>PLAN B SIN WIFI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El juego funciona 100% offline en modo normal: cada equipo juega en su máquina y comparan puntajes con el Ranking del día.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8392" y="4645152"/>
            <a:ext cx="4023360" cy="14630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4572000"/>
            <a:ext cx="4023360" cy="1463040"/>
          </a:xfrm>
          <a:prstGeom prst="rect">
            <a:avLst/>
          </a:prstGeom>
          <a:solidFill>
            <a:srgbClr val="FFD50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7365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B1F3A"/>
                </a:solidFill>
                <a:latin typeface="Arial Black"/>
              </a:rPr>
              <a:t>TIP DE STAND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5 toques en el membrete de la portada abren las estadísticas del día.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PARA EL FACILITADOR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El juego "12 Meses" en 30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1F3A"/>
                </a:solidFill>
                <a:latin typeface="Arial"/>
              </a:rPr>
              <a:t>Sos Joaquín: sueldo justo, deudas viejas y ganas de una moto. </a:t>
            </a:r>
            <a:r>
              <a:rPr sz="1600" b="1">
                <a:solidFill>
                  <a:srgbClr val="0078BF"/>
                </a:solidFill>
                <a:latin typeface="Arial"/>
              </a:rPr>
              <a:t>Un año en 10 decisiones (~3 minutos por partida).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39"/>
            <a:ext cx="283464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834640" cy="329184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BILLETERA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295144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La plata del mes. Sube y baja con cada decisión.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59"/>
            <a:ext cx="283464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34639"/>
            <a:ext cx="2834640" cy="329184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FONDO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98063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El colchón de emergencia. Vale doble en el puntaje.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79"/>
            <a:ext cx="283464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37559"/>
            <a:ext cx="2834640" cy="329184"/>
          </a:xfrm>
          <a:prstGeom prst="rect">
            <a:avLst/>
          </a:prstGeom>
          <a:solidFill>
            <a:srgbClr val="F1506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INTERESES REGALADOS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300983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Todo lo pagado de más por financiar. Resta fuerte.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86199"/>
            <a:ext cx="283464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40479"/>
            <a:ext cx="2834640" cy="329184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RACHA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803903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3+ decisiones buenas seguidas = bonus "cabeza fría".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19"/>
            <a:ext cx="2834640" cy="32918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43399"/>
            <a:ext cx="2834640" cy="329184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HUELLA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306823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5 puntos. Cada marca (Clearing) queda 5 años y resta $8.000.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1F3A"/>
                </a:solidFill>
                <a:latin typeface="Arial"/>
              </a:rPr>
              <a:t>Al final: constancia de huella fotografiable, puntaje desglosado en recibo, 8 medallas rioplatenses y ranking del día.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E6656"/>
                </a:solidFill>
                <a:latin typeface="Arial"/>
              </a:rPr>
              <a:t>También existe el modo Duelo (2 jugadores pasa-la-tablet) para el stand.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LA MECÁNICA DEL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Modo Sala: 3 máquinas, mismos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19072"/>
            <a:ext cx="3566160" cy="1920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3566160" cy="1920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56231"/>
            <a:ext cx="502920" cy="502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810512"/>
            <a:ext cx="502920" cy="5029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B1F3A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1F3A"/>
                </a:solidFill>
                <a:latin typeface="Arial Black"/>
              </a:rPr>
              <a:t>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1B1F3A"/>
                </a:solidFill>
                <a:latin typeface="Arial"/>
              </a:rPr>
              <a:t>Todas las máquinas ponen el MISMO código de 4 letras. Eso garantiza los mismos eventos para todos: la comparación es justa.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1719072"/>
            <a:ext cx="3566160" cy="1920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645920"/>
            <a:ext cx="3566160" cy="1920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3" y="1856231"/>
            <a:ext cx="502920" cy="502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10512"/>
            <a:ext cx="502920" cy="5029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B1F3A"/>
                </a:solidFill>
                <a:latin typeface="Arial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84708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1F3A"/>
                </a:solidFill>
                <a:latin typeface="Arial Black"/>
              </a:rPr>
              <a:t>EQUIPOS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4231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1B1F3A"/>
                </a:solidFill>
                <a:latin typeface="Arial"/>
              </a:rPr>
              <a:t>Cada máquina escribe su nombre de equipo (hasta 12 letras). Se ven entre sí en el lobby.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719072"/>
            <a:ext cx="3566160" cy="1920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645920"/>
            <a:ext cx="3566160" cy="1920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7616" y="1856231"/>
            <a:ext cx="502920" cy="502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11896" y="1810512"/>
            <a:ext cx="502920" cy="5029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B1F3A"/>
                </a:solidFill>
                <a:latin typeface="Arial Blac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184708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1F3A"/>
                </a:solidFill>
                <a:latin typeface="Arial Black"/>
              </a:rPr>
              <a:t>ARRANQUE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24231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1B1F3A"/>
                </a:solidFill>
                <a:latin typeface="Arial"/>
              </a:rPr>
              <a:t>Desde el proyector: ¡Arrancar! Cuenta regresiva 3-2-1 en todas las pantallas a la vez.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913632"/>
            <a:ext cx="3566160" cy="1920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40480"/>
            <a:ext cx="3566160" cy="1920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050791"/>
            <a:ext cx="502920" cy="502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" y="4005072"/>
            <a:ext cx="502920" cy="5029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B1F3A"/>
                </a:solidFill>
                <a:latin typeface="Arial Blac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4164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1F3A"/>
                </a:solidFill>
                <a:latin typeface="Arial Black"/>
              </a:rPr>
              <a:t>LA PARTIDA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17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1B1F3A"/>
                </a:solidFill>
                <a:latin typeface="Arial"/>
              </a:rPr>
              <a:t>Cada equipo decide a su ritmo con timer de 45 segundos por decisión. Ranking en vivo arriba de cada pantalla.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8264" y="3913632"/>
            <a:ext cx="3566160" cy="1920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5112" y="3840480"/>
            <a:ext cx="3566160" cy="1920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35423" y="4050791"/>
            <a:ext cx="502920" cy="502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9703" y="4005072"/>
            <a:ext cx="502920" cy="5029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B1F3A"/>
                </a:solidFill>
                <a:latin typeface="Arial Black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404164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1F3A"/>
                </a:solidFill>
                <a:latin typeface="Arial Black"/>
              </a:rPr>
              <a:t>EL PODIO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4617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1B1F3A"/>
                </a:solidFill>
                <a:latin typeface="Arial"/>
              </a:rPr>
              <a:t>Al terminar: podio con corona, patrimonio, intereses regalados, categoría BCU y marcas de cada equipo.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3913632"/>
            <a:ext cx="3566160" cy="1920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47304" y="3840480"/>
            <a:ext cx="3566160" cy="1920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57616" y="4050791"/>
            <a:ext cx="502920" cy="502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11896" y="4005072"/>
            <a:ext cx="502920" cy="5029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B1F3A"/>
                </a:solidFill>
                <a:latin typeface="Arial Black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0264" y="404164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B1F3A"/>
                </a:solidFill>
                <a:latin typeface="Arial Black"/>
              </a:rPr>
              <a:t>REVANCHA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3" y="4617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0">
                <a:solidFill>
                  <a:srgbClr val="1B1F3A"/>
                </a:solidFill>
                <a:latin typeface="Arial"/>
              </a:rPr>
              <a:t>Desde el proyector. El sorteo cambia: eventos nuevos garantizados.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 · ROMPEHIELO (15')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Desafío financiero: ¿cuántos ya debemos?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6766560" cy="22860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6766560" cy="22860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078BF"/>
                </a:solidFill>
                <a:latin typeface="Arial Black"/>
              </a:rPr>
              <a:t>LA PREGUNTA DE ARRANQUE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En Uruguay hay unos 600.000 jóvenes de 18 a 30 años. ¿Cuántos creen que ya pidieron un préstamo a un banco o financiera?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E6656"/>
                </a:solidFill>
                <a:latin typeface="Arial"/>
              </a:rPr>
              <a:t>Cada equipo grita su número. El que más se acerca elige nombre y máquina primero.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952" y="1673352"/>
            <a:ext cx="4114800" cy="22860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600200"/>
            <a:ext cx="4114800" cy="2286000"/>
          </a:xfrm>
          <a:prstGeom prst="rect">
            <a:avLst/>
          </a:prstGeom>
          <a:solidFill>
            <a:srgbClr val="1B1F3A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828800"/>
            <a:ext cx="3749039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0">
                <a:solidFill>
                  <a:srgbClr val="FFD500"/>
                </a:solidFill>
                <a:latin typeface="Arial Black"/>
              </a:rPr>
              <a:t>297.329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 Black"/>
              </a:rPr>
              <a:t>1 DE CADA 2 JÓVENES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registrados en la Central de Riesgos del BCU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078BF"/>
                </a:solidFill>
                <a:latin typeface="Arial"/>
              </a:rPr>
              <a:t>Cómo facilitarlo (manual Pin!):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• "Si fuéramos como el promedio de Uruguay, un equipo entero estaría endeudado y otro no."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• Aclarar: estar registrado no significa no estar pagando. Preguntar: ¿les sorprende?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1F3A"/>
                </a:solidFill>
                <a:latin typeface="Arial"/>
              </a:rPr>
              <a:t>• Conectar: "Todo lo que vimos acá lo van a VIVIR ahora en el juego."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 · PREGUNTA 1 (ESTILO "100 URUGUAYOS DICEN")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¿Por qué se endeudan los hogares?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E6656"/>
                </a:solidFill>
                <a:latin typeface="Arial"/>
              </a:rPr>
              <a:t>Los equipos se alternan; 30 segundos por respuesta y responde solo el vocero. Puntos = cuántos uruguayos están en cada situación.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391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Gastos corrientes (comida, ropa, hogar)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057400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2057400"/>
            <a:ext cx="6035040" cy="274320"/>
          </a:xfrm>
          <a:prstGeom prst="rect">
            <a:avLst/>
          </a:prstGeom>
          <a:solidFill>
            <a:srgbClr val="F1506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0928" y="2029968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15060"/>
                </a:solidFill>
                <a:latin typeface="Arial Black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79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Gastos mensuales (UTE, OSE, alquiler)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487168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487168"/>
            <a:ext cx="4345228" cy="274320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928" y="2459736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78BF"/>
                </a:solidFill>
                <a:latin typeface="Arial Blac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7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Cancelar una deuda previa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916935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916935"/>
            <a:ext cx="4103827" cy="274320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2889503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48B0"/>
                </a:solidFill>
                <a:latin typeface="Arial Black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5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Bienes duraderos (auto, muebles)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346703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346703"/>
            <a:ext cx="3621023" cy="274320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3319271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A95C"/>
                </a:solidFill>
                <a:latin typeface="Arial Black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58183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Arreglo de la vivienda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776471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3776471"/>
            <a:ext cx="2896819" cy="274320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3749039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F3A"/>
                </a:solidFill>
                <a:latin typeface="Arial Black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87951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Compra de vivienda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206239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206239"/>
            <a:ext cx="1207008" cy="274320"/>
          </a:xfrm>
          <a:prstGeom prst="rect">
            <a:avLst/>
          </a:prstGeom>
          <a:solidFill>
            <a:srgbClr val="6E6656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4178807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E6656"/>
                </a:solidFill>
                <a:latin typeface="Arial Black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17719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Inversión en un negocio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636007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4636007"/>
            <a:ext cx="724204" cy="274320"/>
          </a:xfrm>
          <a:prstGeom prst="rect">
            <a:avLst/>
          </a:prstGeom>
          <a:solidFill>
            <a:srgbClr val="6E6656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4608575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E6656"/>
                </a:solidFill>
                <a:latin typeface="Arial Black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47487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Vacaciones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5065775"/>
            <a:ext cx="603504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5065775"/>
            <a:ext cx="482803" cy="274320"/>
          </a:xfrm>
          <a:prstGeom prst="rect">
            <a:avLst/>
          </a:prstGeom>
          <a:solidFill>
            <a:srgbClr val="6E6656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0928" y="5038343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E6656"/>
                </a:solidFill>
                <a:latin typeface="Arial Black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F3A"/>
                </a:solidFill>
                <a:latin typeface="Arial"/>
              </a:rPr>
              <a:t>El mensaje: </a:t>
            </a:r>
            <a:r>
              <a:rPr sz="1400" b="1">
                <a:solidFill>
                  <a:srgbClr val="F15060"/>
                </a:solidFill>
                <a:latin typeface="Arial"/>
              </a:rPr>
              <a:t>la mayoría se endeuda para llegar a fin de mes, no por gustos. Si la deuda es para gastos corrientes, lo que se necesita es más ingresos o menos gastos — no deuda.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 · PREGUNTA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La nota del BCU: ¿qué tan bien pagamos?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6656"/>
                </a:solidFill>
                <a:latin typeface="Arial"/>
              </a:rPr>
              <a:t>De cada 100 jóvenes deudores, ¿cuántos hay en cada categoría? (Central de Riesgos, BCU)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CAT 1 · Pago fuerte: al día o atraso &lt; 10 días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011680"/>
            <a:ext cx="566928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5669280" cy="274320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45168" y="1984248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A95C"/>
                </a:solidFill>
                <a:latin typeface="Arial Black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CAT 2 · Pago adecuado: atraso 10–60 días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487168"/>
            <a:ext cx="566928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487168"/>
            <a:ext cx="793699" cy="274320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8" y="2459736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78BF"/>
                </a:solidFill>
                <a:latin typeface="Arial Black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CAT 3 · Pago comprometido: 60–180 días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962656"/>
            <a:ext cx="566928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962656"/>
            <a:ext cx="340156" cy="274320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935224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D500"/>
                </a:solidFill>
                <a:latin typeface="A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19856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CAT 4 · Varias deudas, una irrecuperable (&gt;180)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438144"/>
            <a:ext cx="566928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438144"/>
            <a:ext cx="1133856" cy="274320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3410712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48B0"/>
                </a:solidFill>
                <a:latin typeface="Arial Black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CAT 5 · TODAS las deudas irrecuperables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913632"/>
            <a:ext cx="5669280" cy="274320"/>
          </a:xfrm>
          <a:prstGeom prst="rect">
            <a:avLst/>
          </a:prstGeom>
          <a:solidFill>
            <a:srgbClr val="FBF8F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3913632"/>
            <a:ext cx="3401568" cy="274320"/>
          </a:xfrm>
          <a:prstGeom prst="rect">
            <a:avLst/>
          </a:prstGeom>
          <a:solidFill>
            <a:srgbClr val="F1506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3886200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15060"/>
                </a:solidFill>
                <a:latin typeface="Arial Black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" y="4690872"/>
            <a:ext cx="11155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617720"/>
            <a:ext cx="11155680" cy="1234440"/>
          </a:xfrm>
          <a:prstGeom prst="rect">
            <a:avLst/>
          </a:prstGeom>
          <a:solidFill>
            <a:srgbClr val="F1506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73168"/>
            <a:ext cx="10698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Arial Black"/>
              </a:rPr>
              <a:t>1 DE CADA 3 JÓVENES DEUDORES YA TIENE TODO INCOBRABLE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 mitad paga impecable — y un tercio arrancó su vida financiera con la huella quemada 5 años. Esa diferencia se decide en jugadas como las del juego.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 · LA PARTIDA (25')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Cómo se juega con ~20 y 3 máquinas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5486400" cy="4206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4206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078BF"/>
                </a:solidFill>
                <a:latin typeface="Arial Black"/>
              </a:rPr>
              <a:t>FORMATO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• 3 equipos de ~6-7 alrededor de cada máquina.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B1F3A"/>
                </a:solidFill>
                <a:latin typeface="Arial"/>
              </a:rPr>
              <a:t>• Cada decisión se debate en el equipo: ahí está el aprendizaje.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• Timer de 45 segundos por decisión: el debate es intenso pero corto.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• El ranking en vivo mete presión sana: se ve quién va primero, mes a mes.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B1F3A"/>
                </a:solidFill>
                <a:latin typeface="Arial"/>
              </a:rPr>
              <a:t>• Una partida dura ~10 minutos. Da tiempo a revancha con eventos nuevos.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673352"/>
            <a:ext cx="5303520" cy="128016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600200"/>
            <a:ext cx="5303520" cy="1280160"/>
          </a:xfrm>
          <a:prstGeom prst="rect">
            <a:avLst/>
          </a:prstGeom>
          <a:solidFill>
            <a:srgbClr val="FFD50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B1F3A"/>
                </a:solidFill>
                <a:latin typeface="Arial Black"/>
              </a:rPr>
              <a:t>VOCERO/A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El único que toca la pantalla. Rota cada 3 meses del juego.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3154680"/>
            <a:ext cx="5303520" cy="128016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081528"/>
            <a:ext cx="5303520" cy="1280160"/>
          </a:xfrm>
          <a:prstGeom prst="rect">
            <a:avLst/>
          </a:prstGeom>
          <a:solidFill>
            <a:srgbClr val="0078BF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218688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rial Black"/>
              </a:rPr>
              <a:t>CONTADOR/A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Obligado a hacer la cuenta EN VOZ ALTA: cuota × cuotas, antes de decidir.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232" y="4636008"/>
            <a:ext cx="5303520" cy="128016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4562856"/>
            <a:ext cx="5303520" cy="1280160"/>
          </a:xfrm>
          <a:prstGeom prst="rect">
            <a:avLst/>
          </a:prstGeom>
          <a:solidFill>
            <a:srgbClr val="FF48B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700016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rial Black"/>
              </a:rPr>
              <a:t>ABOGADO/A DEL DIABLO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Tiene que defender la opción tentadora. Si nadie tienta, no hay mérito en resistir.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 · EL RECORRIDO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El año de Joaquín: 10 decisiones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168249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79222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755648"/>
            <a:ext cx="658368" cy="475488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0992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La factura de UTE atrasada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874519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82880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FIJO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3" y="168249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2763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79222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755648"/>
            <a:ext cx="658368" cy="475488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0992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La tarjeta clavada en $10.000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0" y="1874519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44200" y="182880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FIJO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" y="255117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49631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" y="266090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2624328"/>
            <a:ext cx="658368" cy="475488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57860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Evento sorteado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2743200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269748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SORTEO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2783" y="255117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49631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64224" y="266090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2624328"/>
            <a:ext cx="658368" cy="475488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57860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CHEQUEO RÁPIDO (quiz con datos reales)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0" y="2743200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44200" y="269748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QUIZ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" y="341985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364991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" y="352958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" y="3493008"/>
            <a:ext cx="658368" cy="475488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447287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¡Chau préstamo del auto!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611879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356616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FIJO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3" y="341985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364991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64224" y="352958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27648" y="3493008"/>
            <a:ext cx="658368" cy="475488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447287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Evento sorteado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89920" y="3611879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44200" y="356616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SORTEO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" y="428853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23367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" y="439826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648" y="4361688"/>
            <a:ext cx="658368" cy="475488"/>
          </a:xfrm>
          <a:prstGeom prst="rect">
            <a:avLst/>
          </a:prstGeom>
          <a:solidFill>
            <a:srgbClr val="F1506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431596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LA BOCHA: la vida no avisa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74920" y="4480559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0" y="443484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SHOCK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72783" y="428853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23367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64224" y="439826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27648" y="4361688"/>
            <a:ext cx="658368" cy="475488"/>
          </a:xfrm>
          <a:prstGeom prst="rect">
            <a:avLst/>
          </a:prstGeom>
          <a:solidFill>
            <a:srgbClr val="F1506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31596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Imprevisto (heladera o celular)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89920" y="4480559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44200" y="443484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SORTEO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" y="515721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2920" y="510235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9224" y="526694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2648" y="5230368"/>
            <a:ext cx="658368" cy="475488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518464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La moto. El plan de siempre.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5349240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0" y="530352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FIJO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72783" y="5157216"/>
            <a:ext cx="5440680" cy="7315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17920" y="5102352"/>
            <a:ext cx="5440680" cy="73152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64224" y="5266944"/>
            <a:ext cx="658368" cy="47548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7648" y="5230368"/>
            <a:ext cx="658368" cy="475488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 Black"/>
              </a:rPr>
              <a:t>M12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0" y="5184648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Diciembre: cae el aguinaldo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789920" y="5349240"/>
            <a:ext cx="804672" cy="2743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744200" y="5303520"/>
            <a:ext cx="804672" cy="274320"/>
          </a:xfrm>
          <a:prstGeom prst="rect">
            <a:avLst/>
          </a:prstGeom>
          <a:solidFill>
            <a:srgbClr val="F3EEE2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9144" bIns="9144"/>
          <a:lstStyle/>
          <a:p>
            <a:pPr algn="ctr"/>
            <a:r>
              <a:rPr sz="850" b="1">
                <a:solidFill>
                  <a:srgbClr val="6E6656"/>
                </a:solidFill>
                <a:latin typeface="Arial"/>
              </a:rPr>
              <a:t>FIJO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E6656"/>
                </a:solidFill>
                <a:latin typeface="Arial"/>
              </a:rPr>
              <a:t>Los sorteos y el quiz cambian en cada partida: la revancha nunca repite.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 · LOS 5 MOMENTOS FIJOS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Qué enseña cada mes (y cómo reforzarlo)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1682496"/>
            <a:ext cx="11155680" cy="777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1155680" cy="777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792224"/>
            <a:ext cx="1691640" cy="51206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55648"/>
            <a:ext cx="1691640" cy="512064"/>
          </a:xfrm>
          <a:prstGeom prst="rect">
            <a:avLst/>
          </a:prstGeom>
          <a:solidFill>
            <a:srgbClr val="1B1F3A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Arial Black"/>
              </a:rPr>
              <a:t>M1 · 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19072"/>
            <a:ext cx="900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1">
                <a:solidFill>
                  <a:srgbClr val="1B1F3A"/>
                </a:solidFill>
                <a:latin typeface="Arial"/>
              </a:rPr>
              <a:t>La factura "inocente" va al Clearing y marca la huella 5 años. Deuda para tapar deuda: se muda y engorda.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" y="2578608"/>
            <a:ext cx="11155680" cy="777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23744"/>
            <a:ext cx="11155680" cy="777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" y="2688336"/>
            <a:ext cx="1691640" cy="51206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691640" cy="512064"/>
          </a:xfrm>
          <a:prstGeom prst="rect">
            <a:avLst/>
          </a:prstGeom>
          <a:solidFill>
            <a:srgbClr val="FF48B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Arial Black"/>
              </a:rPr>
              <a:t>M2 · TARJETA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15184"/>
            <a:ext cx="900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1">
                <a:solidFill>
                  <a:srgbClr val="1B1F3A"/>
                </a:solidFill>
                <a:latin typeface="Arial"/>
              </a:rPr>
              <a:t>El pago mínimo es la deuda eterna: pagás y el saldo ni se entera. A la tarjeta se le gana con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" y="3474720"/>
            <a:ext cx="11155680" cy="777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19856"/>
            <a:ext cx="11155680" cy="777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" y="3584448"/>
            <a:ext cx="1691640" cy="51206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47872"/>
            <a:ext cx="1691640" cy="512064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Arial Black"/>
              </a:rPr>
              <a:t>M5 · SE LIBERA PLATA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511296"/>
            <a:ext cx="900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1">
                <a:solidFill>
                  <a:srgbClr val="1B1F3A"/>
                </a:solidFill>
                <a:latin typeface="Arial"/>
              </a:rPr>
              <a:t>Cobrate primero: débito automático al fondo. La plata sin nombre se gasta sola.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" y="4370831"/>
            <a:ext cx="11155680" cy="777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15968"/>
            <a:ext cx="11155680" cy="777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" y="4480559"/>
            <a:ext cx="1691640" cy="51206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443983"/>
            <a:ext cx="1691640" cy="512064"/>
          </a:xfrm>
          <a:prstGeom prst="rect">
            <a:avLst/>
          </a:prstGeom>
          <a:solidFill>
            <a:srgbClr val="0078BF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Arial Black"/>
              </a:rPr>
              <a:t>M9 · LA MOTO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407407"/>
            <a:ext cx="900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1">
                <a:solidFill>
                  <a:srgbClr val="1B1F3A"/>
                </a:solidFill>
                <a:latin typeface="Arial"/>
              </a:rPr>
              <a:t>PAMY en acción. Con entrega ahorrada pedís menos: cada peso de entrega son dos que no regalás.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" y="5266943"/>
            <a:ext cx="11155680" cy="7772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212079"/>
            <a:ext cx="11155680" cy="7772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" y="5376671"/>
            <a:ext cx="1691640" cy="512064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40095"/>
            <a:ext cx="1691640" cy="512064"/>
          </a:xfrm>
          <a:prstGeom prst="rect">
            <a:avLst/>
          </a:prstGeom>
          <a:solidFill>
            <a:srgbClr val="FFD50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1B1F3A"/>
                </a:solidFill>
                <a:latin typeface="Arial Black"/>
              </a:rPr>
              <a:t>M12 · AGUINALDO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303519"/>
            <a:ext cx="900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1">
                <a:solidFill>
                  <a:srgbClr val="1B1F3A"/>
                </a:solidFill>
                <a:latin typeface="Arial"/>
              </a:rPr>
              <a:t>No es premio: es la mejor herramienta financiera del año. El 50/50 decidido antes también es un plan.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 · LOS DATOS, DENTRO DEL JUEGO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Chequeos rápidos: 5 quizzes con datos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E6656"/>
                </a:solidFill>
                <a:latin typeface="Arial"/>
              </a:rPr>
              <a:t>En el Mes 4 SIEMPRE cae uno, sorteado. Respuesta correcta: +$2.000 y camino a la medalla "Ojo de Halcón".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2112264"/>
            <a:ext cx="11155680" cy="65836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55680" cy="658368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 Black"/>
              </a:rPr>
              <a:t>¿Dónde aparece la UTE impaga?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03120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En el Clearing (no en el BCU). Los dos espejos.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" y="2880360"/>
            <a:ext cx="11155680" cy="65836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25496"/>
            <a:ext cx="11155680" cy="658368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71215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 Black"/>
              </a:rPr>
              <a:t>¿Cuántos jóvenes ya pidieron préstamo?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871215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297.329 de 600.000: la mitad.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" y="3648456"/>
            <a:ext cx="11155680" cy="65836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93591"/>
            <a:ext cx="11155680" cy="658368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 Black"/>
              </a:rPr>
              <a:t>¿Para qué nos endeudamos?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39311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Motivo nº1: los gastos de todos los días (25 de 100).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" y="4416551"/>
            <a:ext cx="11155680" cy="65836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11155680" cy="658368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7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 Black"/>
              </a:rPr>
              <a:t>La temida categoría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407407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1 de cada 3 jóvenes deudores tiene todo incobrable.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" y="5184647"/>
            <a:ext cx="11155680" cy="658368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29783"/>
            <a:ext cx="11155680" cy="658368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75503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1F3A"/>
                </a:solidFill>
                <a:latin typeface="Arial Black"/>
              </a:rPr>
              <a:t>¿Cuántas cuotas son tuyas?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175503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De 36 cuotas de $3.999: 20 para vos, 16 para la financiera.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5060"/>
                </a:solidFill>
                <a:latin typeface="Arial"/>
              </a:rPr>
              <a:t>Consejo: cuando cae el quiz, frená la sala 60 segundos y comentá el dato con todo el grupo.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 · TU ROL DURANTE LA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Disparadores para frenar y preguntar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19072"/>
            <a:ext cx="5440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40680" cy="12344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6479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078BF"/>
                </a:solidFill>
                <a:latin typeface="Arial Black"/>
              </a:rPr>
              <a:t>EN CUALQUIER DECISIÓN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"¿Por qué eligieron eso? ¿Quién estaba en contra?" — que el desacuerdo se escuche.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1719072"/>
            <a:ext cx="5440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40680" cy="12344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078BF"/>
                </a:solidFill>
                <a:latin typeface="Arial Black"/>
              </a:rPr>
              <a:t>ANTE CUOTAS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"¿Quién hizo la cuenta? ¿Cuánto da cuota × cuotas?" — el contador del equipo responde.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3182112"/>
            <a:ext cx="5440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40680" cy="12344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22783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078BF"/>
                </a:solidFill>
                <a:latin typeface="Arial Black"/>
              </a:rPr>
              <a:t>ANTE UN "YA MISMO"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"¿Qué pasa si esperan un mes?" — un préstamo es una decisión de tiempo.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3182112"/>
            <a:ext cx="5440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440680" cy="12344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22783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078BF"/>
                </a:solidFill>
                <a:latin typeface="Arial Black"/>
              </a:rPr>
              <a:t>ANTE UNA MARCA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"¿Quién ve esa marca y por cuánto tiempo?" — el banco mira los dos espejos, 5 años.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4645152"/>
            <a:ext cx="5440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440680" cy="12344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69087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078BF"/>
                </a:solidFill>
                <a:latin typeface="Arial Black"/>
              </a:rPr>
              <a:t>ANTE LA MOTO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"¿El delivery paga la moto… si llueve dos semanas?" — deuda que genera ingreso vs. margen.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4645152"/>
            <a:ext cx="5440680" cy="123444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440680" cy="123444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690872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078BF"/>
                </a:solidFill>
                <a:latin typeface="Arial Black"/>
              </a:rPr>
              <a:t>EN EL FEEDBACK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30" b="1">
                <a:solidFill>
                  <a:srgbClr val="1B1F3A"/>
                </a:solidFill>
                <a:latin typeface="Arial"/>
              </a:rPr>
              <a:t>Leé "La posta" en voz alta cuando un equipo se clave: es la lección en una frase.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EL ENTREGABLE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PAMY: la lista de cotejo antes de firmar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5440680" cy="1874519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5440680" cy="1874519"/>
          </a:xfrm>
          <a:prstGeom prst="rect">
            <a:avLst/>
          </a:prstGeom>
          <a:solidFill>
            <a:srgbClr val="FFD50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1B1F3A"/>
                </a:solidFill>
                <a:latin typeface="Arial Black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10512"/>
            <a:ext cx="4069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1B1F3A"/>
                </a:solidFill>
                <a:latin typeface="Arial Black"/>
              </a:rPr>
              <a:t>PRECISO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1B1F3A"/>
                </a:solidFill>
                <a:latin typeface="Arial"/>
              </a:rPr>
              <a:t>¿Lo preciso de verdad… y lo preciso YA? Un préstamo es una decisión de tiempo: ¿qué pasa si espero?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700784"/>
            <a:ext cx="5440680" cy="1874519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5440680" cy="1874519"/>
          </a:xfrm>
          <a:prstGeom prst="rect">
            <a:avLst/>
          </a:prstGeom>
          <a:solidFill>
            <a:srgbClr val="00A95C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73936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10512"/>
            <a:ext cx="4069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rial Black"/>
              </a:rPr>
              <a:t>AHORRO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Tomar un préstamo ES ahorrar (después y con intereses). Si puedo pagar la cuota, ¿por qué no ahorro antes y soy mi propio prestamista?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849624"/>
            <a:ext cx="5440680" cy="1874519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76472"/>
            <a:ext cx="5440680" cy="1874519"/>
          </a:xfrm>
          <a:prstGeom prst="rect">
            <a:avLst/>
          </a:prstGeom>
          <a:solidFill>
            <a:srgbClr val="0078BF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22776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959352"/>
            <a:ext cx="4069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rial Black"/>
              </a:rPr>
              <a:t>MEJORES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Comparar TODAS las opciones por costo total: bancos (ojo BROU), financieras, casas de crédito, tarjetas, cooperativas. La TEA y la cuenta cuota × cuotas.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3849624"/>
            <a:ext cx="5440680" cy="1874519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76472"/>
            <a:ext cx="5440680" cy="1874519"/>
          </a:xfrm>
          <a:prstGeom prst="rect">
            <a:avLst/>
          </a:prstGeom>
          <a:solidFill>
            <a:srgbClr val="FF48B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22776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Arial Black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959352"/>
            <a:ext cx="4069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rial Black"/>
              </a:rPr>
              <a:t>Y DESPUÉS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¿De dónde sale la cuota? ¿Qué gasto comprimo? ¿Cuál es el plan para sostener el ahorro y cumplirlo?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EL REFLEJO QUE HAY QUE INSTALAR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La cuenta que salva: cuota × cuotas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64792"/>
            <a:ext cx="11155680" cy="16002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55680" cy="16002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01168" cy="1600200"/>
          </a:xfrm>
          <a:prstGeom prst="rect">
            <a:avLst/>
          </a:prstGeom>
          <a:solidFill>
            <a:srgbClr val="00A95C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$15.000 en 6 cuotas de $2.999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00A95C"/>
                </a:solidFill>
                <a:latin typeface="Arial Black"/>
              </a:rPr>
              <a:t>6 × $2.999 = $17.994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F3A"/>
                </a:solidFill>
                <a:latin typeface="Arial"/>
              </a:rPr>
              <a:t>5 cuotas para vos · 1 entera para la financiera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3639312"/>
            <a:ext cx="11155680" cy="16002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11155680" cy="16002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201168" cy="1600200"/>
          </a:xfrm>
          <a:prstGeom prst="rect">
            <a:avLst/>
          </a:prstGeom>
          <a:solidFill>
            <a:srgbClr val="F15060"/>
          </a:solidFill>
          <a:ln w="2540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F3A"/>
                </a:solidFill>
                <a:latin typeface="Arial"/>
              </a:rPr>
              <a:t>$80.000 en 36 cuotas de $3.999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F15060"/>
                </a:solidFill>
                <a:latin typeface="Arial Black"/>
              </a:rPr>
              <a:t>36 × $3.999 = $143.964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F3A"/>
                </a:solidFill>
                <a:latin typeface="Arial"/>
              </a:rPr>
              <a:t>20 cuotas para vos · 16 enteras para la financiera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5060"/>
                </a:solidFill>
                <a:latin typeface="Arial"/>
              </a:rPr>
              <a:t>La cuota chica esconde el total gigante. Antes de firmar: total a pagar vs. precio contado — y pedirlo POR ESCRITO.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III · LA HUELLA (15')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Los dos espejos: BCU y Clearing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5486400" cy="3931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3931920"/>
          </a:xfrm>
          <a:prstGeom prst="rect">
            <a:avLst/>
          </a:prstGeom>
          <a:solidFill>
            <a:srgbClr val="0078BF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 Black"/>
              </a:rPr>
              <a:t>BCU · CENTRAL DE RIESGOS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1">
                <a:solidFill>
                  <a:srgbClr val="FFFFFF"/>
                </a:solidFill>
                <a:latin typeface="Arial"/>
              </a:rPr>
              <a:t>• Solo sistema financiero regulado: bancos, financieras, cooperativas.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1">
                <a:solidFill>
                  <a:srgbClr val="FFFFFF"/>
                </a:solidFill>
                <a:latin typeface="Arial"/>
              </a:rPr>
              <a:t>• Tu nota del 1 al 5 según días de atraso.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1">
                <a:solidFill>
                  <a:srgbClr val="FFFFFF"/>
                </a:solidFill>
                <a:latin typeface="Arial"/>
              </a:rPr>
              <a:t>• No borra la información, aunque canceles la deuda.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D500"/>
                </a:solidFill>
                <a:latin typeface="Arial"/>
              </a:rPr>
              <a:t>• Gratis: consultadeuda.bcu.gub.uy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673352"/>
            <a:ext cx="5394960" cy="393192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394960" cy="3931920"/>
          </a:xfrm>
          <a:prstGeom prst="rect">
            <a:avLst/>
          </a:prstGeom>
          <a:solidFill>
            <a:srgbClr val="FF48B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rial Black"/>
              </a:rPr>
              <a:t>CLEARING DE INFORMES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1">
                <a:solidFill>
                  <a:srgbClr val="FFFFFF"/>
                </a:solidFill>
                <a:latin typeface="Arial"/>
              </a:rPr>
              <a:t>• Servicios (UTE, OSE), comercios, cheques rechazados, refinanciaciones.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1">
                <a:solidFill>
                  <a:srgbClr val="FFFFFF"/>
                </a:solidFill>
                <a:latin typeface="Arial"/>
              </a:rPr>
              <a:t>• Muestra QUIÉN te consultó en los últimos 6 meses.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1">
                <a:solidFill>
                  <a:srgbClr val="FFFFFF"/>
                </a:solidFill>
                <a:latin typeface="Arial"/>
              </a:rPr>
              <a:t>• Las marcas duran 5 años desde el registro.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D500"/>
                </a:solidFill>
                <a:latin typeface="Arial"/>
              </a:rPr>
              <a:t>• clearing.com.uy/personas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1F3A"/>
                </a:solidFill>
                <a:latin typeface="Arial Black"/>
              </a:rPr>
              <a:t>EL BANCO MIRA LOS DOS. Por eso en el juego la UTE impaga también marca la huella.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III · DEL PODIO AL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Leer el podio… y decidir: ¿le prestarían?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5486400" cy="41148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41148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0078BF"/>
                </a:solidFill>
                <a:latin typeface="Arial Black"/>
              </a:rPr>
              <a:t>EL PODIO COMO CIERRE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• Intereses regalados = plata quemada: ¿cuánto regaló cada equipo?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• Marcas = 5 años de huella: ¿cuáles se podían evitar?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F3A"/>
                </a:solidFill>
                <a:latin typeface="Arial"/>
              </a:rPr>
              <a:t>• Cada equipo cuenta su PEOR decisión y qué haría distinto (minuto de oro por equipo).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• La categoría BCU del podio conecta directo con la pregunta 2 del rompehielo.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673352"/>
            <a:ext cx="5394960" cy="41148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394960" cy="41148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9377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FF48B0"/>
                </a:solidFill>
                <a:latin typeface="Arial Black"/>
              </a:rPr>
              <a:t>¿LE PRESTARÍAN A JOAQUÍN?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F3A"/>
                </a:solidFill>
                <a:latin typeface="Arial"/>
              </a:rPr>
              <a:t>Pide $60.000 para la moto (delivery: +$7.000/mes).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El BCU dice: tarjeta y préstamo al día → categoría 1. Parece que sí…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El Clearing dice: UTE 60 días, refinanciación, cheque rechazado, 6 consultas. Mmm…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F3A"/>
                </a:solidFill>
                <a:latin typeface="Arial"/>
              </a:rPr>
              <a:t>Debate y votación: ¿pesa más la nota del BCU o el Clearing? ¿Importa que la moto genere ingresos?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PARTE IV · DECIDIR CONSCIENTE (15')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La IA asesora: introspección antes de firmar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5486400" cy="41148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411480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0078BF"/>
                </a:solidFill>
                <a:latin typeface="Arial Black"/>
              </a:rPr>
              <a:t>LA DINÁMICA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1 · Antes: cada uno anota su decisión (¿tomarían el préstamo?) y su convicción del 1 al 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1F3A"/>
                </a:solidFill>
                <a:latin typeface="Arial"/>
              </a:rPr>
              <a:t>2 · En rol de Joaquín, conversan con la IA asesora (mini-web del stand).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1F3A"/>
                </a:solidFill>
                <a:latin typeface="Arial"/>
              </a:rPr>
              <a:t>3 · Después: ¿mantienen la decisión? ¿Cambió el 1-7? ¿Qué apareció que no habían pensado?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673352"/>
            <a:ext cx="5394960" cy="411480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394960" cy="4114800"/>
          </a:xfrm>
          <a:prstGeom prst="rect">
            <a:avLst/>
          </a:prstGeom>
          <a:solidFill>
            <a:srgbClr val="1B1F3A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9377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FFD500"/>
                </a:solidFill>
                <a:latin typeface="Arial Black"/>
              </a:rPr>
              <a:t>LO QUE PREGUNTA LA IA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"¿Por qué necesitás este préstamo?"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"¿Cómo vas a cubrir las cuotas?"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"¿Y si surge un imprevisto mientras pagás?"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"Imaginate tu vida en un año con esta decisión."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D500"/>
                </a:solidFill>
                <a:latin typeface="Arial"/>
              </a:rPr>
              <a:t>La IA no juzga ni recomienda: guía la reflexión. Ese es el punto.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CIERRE (10')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Minuto de oro: decirlo es creerlo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1F3A"/>
                </a:solidFill>
                <a:latin typeface="Arial"/>
              </a:rPr>
              <a:t>Cada participante piensa UNA cosa del taller que no quiere olvidar… y se la dice a alguien.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E6656"/>
                </a:solidFill>
                <a:latin typeface="Arial"/>
              </a:rPr>
              <a:t>Verbalizar el aprendizaje lo consolida (efecto "decirlo es creerlo", manual Pin!). Con equipos: un minuto de oro por equipo, a partir de su partida.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3182112"/>
            <a:ext cx="11155680" cy="155448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108960"/>
            <a:ext cx="11155680" cy="1554480"/>
          </a:xfrm>
          <a:prstGeom prst="rect">
            <a:avLst/>
          </a:prstGeom>
          <a:solidFill>
            <a:srgbClr val="FFD50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B1F3A"/>
                </a:solidFill>
                <a:latin typeface="Arial Black"/>
              </a:rPr>
              <a:t>LA IDEA FUERZA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B1F3A"/>
                </a:solidFill>
                <a:latin typeface="Arial Black"/>
              </a:rPr>
              <a:t>"Pedir prestado es ahorrar: un préstamo es un compromiso de ahorro — para vos y para pagarle los intereses a quien te prestó — no una solución inmediata."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F3A"/>
                </a:solidFill>
                <a:latin typeface="Arial"/>
              </a:rPr>
              <a:t>Y la huella queda: cada decisión del juego —y de la vida— construye la reputación financiera que abre o cierra puertas 5 años.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TICKET DE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Se van con el juego en el bolsillo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19072"/>
            <a:ext cx="5486400" cy="402336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402336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ju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63240" y="210312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78BF"/>
                </a:solidFill>
                <a:latin typeface="Arial Black"/>
              </a:rPr>
              <a:t>LLEVATE EL JUEGO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El QR está en la constancia final de cada partida. Abierto una vez, funciona sin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78BF"/>
                </a:solidFill>
                <a:latin typeface="Arial"/>
              </a:rPr>
              <a:t>chelabsweb.github.io/endeudarse-bien-stand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719072"/>
            <a:ext cx="5394960" cy="4023360"/>
          </a:xfrm>
          <a:prstGeom prst="rect">
            <a:avLst/>
          </a:prstGeom>
          <a:solidFill>
            <a:srgbClr val="1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394960" cy="4023360"/>
          </a:xfrm>
          <a:prstGeom prst="rect">
            <a:avLst/>
          </a:prstGeom>
          <a:solidFill>
            <a:srgbClr val="FBF8F0"/>
          </a:solidFill>
          <a:ln w="31750">
            <a:solidFill>
              <a:srgbClr val="1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consu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65960"/>
            <a:ext cx="20116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60" y="2103120"/>
            <a:ext cx="2651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48B0"/>
                </a:solidFill>
                <a:latin typeface="Arial Black"/>
              </a:rPr>
              <a:t>TU HUELLA REAL, GRATIS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1F3A"/>
                </a:solidFill>
                <a:latin typeface="Arial"/>
              </a:rPr>
              <a:t>Que cada uno consulte su huella de verdad al llegar a casa.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624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48B0"/>
                </a:solidFill>
                <a:latin typeface="Arial"/>
              </a:rPr>
              <a:t>consultadeuda.bcu.gub.uy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6656"/>
                </a:solidFill>
                <a:latin typeface="Arial"/>
              </a:rPr>
              <a:t>+ Tarjeta takeaway impresa (4 por hoja A4) con las reglas de oro.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78BF"/>
                </a:solidFill>
                <a:latin typeface="Arial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>
                <a:solidFill>
                  <a:srgbClr val="1B1F3A"/>
                </a:solidFill>
                <a:latin typeface="Arial Black"/>
              </a:rPr>
              <a:t>Ficha técnica y solución de problemas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78BF"/>
                </a:solidFill>
                <a:latin typeface="Arial Black"/>
              </a:rPr>
              <a:t>EL JUEGO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URL: chelabsweb.github.io/endeudarse-bien-stand  ·  Un solo archivo HTML, PWA offline, cero instalación.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Modos: normal (1 jugador), Duelo (2, pasa-la-tablet), Sala (varias máquinas + proyector, requiere internet).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Estadísticas del día: 5 toques en el membrete de la portada. Ranking del día: se limpia solo cada día.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15060"/>
                </a:solidFill>
                <a:latin typeface="Arial Black"/>
              </a:rPr>
              <a:t>SI ALGO FALLA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No conecta la sala → revisar wifi; si no hay, Plan B: modo normal + comparar en el Ranking del día.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Un equipo se desconecta a mitad de partida → sigue jugando offline; su resultado se canta a mano en el cierre.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La pantalla quedó dormida → tocar y "¡Sigo acá!". En modo sala el timer de inactividad está desactivado.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A95C"/>
                </a:solidFill>
                <a:latin typeface="Arial Black"/>
              </a:rPr>
              <a:t>MATERIALES DEL KIT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Este mazo · Guía del facilitador (PDF) · Tarjetas takeaway · Prompt de la IA asesora · Manual Pin! 2025 (marco oficial).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1F3A"/>
                </a:solidFill>
                <a:latin typeface="Arial"/>
              </a:rPr>
              <a:t>• Repo: github.com/ChelabsWeb/endeudarse-bien-stand — esta presentación se regenera con gen_formadores_pptx.py.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E6656"/>
                </a:solidFill>
                <a:latin typeface="Arial"/>
              </a:rPr>
              <a:t>PIN! · BCU · CENTRAL PARA VOS · TALLER 3 ENDEUDARSE BIEN   · 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