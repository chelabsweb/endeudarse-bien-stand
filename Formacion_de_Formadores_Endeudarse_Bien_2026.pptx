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45720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45720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841247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841247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225295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225295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60934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60934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199339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199339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93776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93776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32180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32180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70585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608990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608990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47395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47395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0" y="1554480"/>
            <a:ext cx="121916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5800" b="0">
                <a:solidFill>
                  <a:srgbClr val="FAF3DC"/>
                </a:solidFill>
                <a:latin typeface="Arial Black"/>
              </a:rPr>
              <a:t>Endeudarse bien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3FB577"/>
                </a:solidFill>
                <a:latin typeface="Arial"/>
              </a:rPr>
              <a:t>decisiones financieras informadas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Taller 3 · Formación de formadores · edición juego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38728" y="4800600"/>
            <a:ext cx="5120640" cy="594360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8" y="48920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52A52"/>
                </a:solidFill>
                <a:latin typeface="Arial Black"/>
              </a:rPr>
              <a:t>EL TALLER AHORA SE JUEGA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AF3DC"/>
                </a:solidFill>
                <a:latin typeface="Arial"/>
              </a:rPr>
              <a:t>Pin! · INJU · BCU · CAF — Central para 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8580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FAF3DC"/>
                </a:solidFill>
                <a:latin typeface="Arial Black"/>
              </a:rPr>
              <a:t>AGENDA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181051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7510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Actividad rompehielos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79191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84378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El juego: 12 meses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54787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712463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Huella financiera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41655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8114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Decidir bien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28523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982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Ticket de salida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8580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FAF3DC"/>
                </a:solidFill>
                <a:latin typeface="Arial Black"/>
              </a:rPr>
              <a:t>AGENDA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181051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901952"/>
            <a:ext cx="10698480" cy="713232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97510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52A52"/>
                </a:solidFill>
                <a:latin typeface="Arial Black"/>
              </a:rPr>
              <a:t>Actividad rompehielos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0116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2A52"/>
                </a:solidFill>
                <a:latin typeface="Arial Black"/>
              </a:rPr>
              <a:t>AHORA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679191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84378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El juego: 12 meses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54787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12463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Huella financiera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41655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8114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Decidir bien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8523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44982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Ticket de salida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DESAFÍO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El desafío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2E74B5"/>
                </a:solidFill>
                <a:latin typeface="Arial"/>
              </a:rPr>
              <a:t>Objetivo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252A52"/>
                </a:solidFill>
                <a:latin typeface="Arial"/>
              </a:rPr>
              <a:t>Fomentar la reflexión sobre decisiones financieras mediante un juego dinámico y participativo, con datos reales sobre cómo se endeudan las familias uruguayas y sus consecuencias.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5394960" cy="292608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48463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Arial"/>
              </a:rPr>
              <a:t>Materiales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52A52"/>
                </a:solidFill>
                <a:latin typeface="Arial"/>
              </a:rPr>
              <a:t>• Proyector con esta presentación (y luego el tablero del juego).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52A52"/>
                </a:solidFill>
                <a:latin typeface="Arial"/>
              </a:rPr>
              <a:t>• Pizarra para anotar los puntos de cada equipo.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52A52"/>
                </a:solidFill>
                <a:latin typeface="Arial"/>
              </a:rPr>
              <a:t>• Cronómetro o reloj visible.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52A52"/>
                </a:solidFill>
                <a:latin typeface="Arial"/>
              </a:rPr>
              <a:t>• Las 3 máquinas del juego, ya conectadas a la sala.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880360"/>
            <a:ext cx="5394960" cy="2926080"/>
          </a:xfrm>
          <a:prstGeom prst="roundRect">
            <a:avLst>
              <a:gd name="adj" fmla="val 8000"/>
            </a:avLst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3063240"/>
            <a:ext cx="48463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FB577"/>
                </a:solidFill>
                <a:latin typeface="Arial"/>
              </a:rPr>
              <a:t>Duración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0">
                <a:solidFill>
                  <a:srgbClr val="FAF3DC"/>
                </a:solidFill>
                <a:latin typeface="Arial Black"/>
              </a:rPr>
              <a:t>15 minutos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Este rompehielo además arma los equipos que van a jugar "12 Meses".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DESAFÍO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252A52"/>
                </a:solidFill>
                <a:latin typeface="Arial"/>
              </a:rPr>
              <a:t>Se divide el grupo en 3 equipos (los mismos que después van a jugar, ~6-7 por equipo).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52A52"/>
                </a:solidFill>
                <a:latin typeface="Arial"/>
              </a:rPr>
              <a:t>Al estilo de "100 uruguayos dicen": si la respuesta coincide con una de la lista oficial, suman los puntos de esa respuesta. Los puntos reflejan cuántos uruguayos están en cada situación.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252A52"/>
                </a:solidFill>
                <a:latin typeface="Arial"/>
              </a:rPr>
              <a:t>Los equipos se alternan. Cada equipo tiene 30 segundos para discutir y solo su vocero/a da la respuesta final.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3FB577"/>
                </a:solidFill>
                <a:latin typeface="Arial"/>
              </a:rPr>
              <a:t>Gana el equipo que suma más puntos… y se lleva la primera elección de máquina y nombre de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DESAFÍO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¿Quién empieza?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27432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252A52"/>
                </a:solidFill>
                <a:latin typeface="Arial"/>
              </a:rPr>
              <a:t>En Uruguay hay algo más de 600.000 jóvenes de entre 18 y 30 años.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2E74B5"/>
                </a:solidFill>
                <a:latin typeface="Arial Black"/>
              </a:rPr>
              <a:t>¿Cuántos creen ustedes que han solicitado un préstamo a un banco o financiera?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"/>
              </a:rPr>
              <a:t>Cada equipo tiene 30 segundos para acordar un número. El que más se acerque, empieza.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00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3FB577"/>
                </a:solidFill>
                <a:latin typeface="Arial Black"/>
              </a:rPr>
              <a:t>Respuesta correcta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1920240"/>
            <a:ext cx="1219169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0" b="0">
                <a:solidFill>
                  <a:srgbClr val="FAF3DC"/>
                </a:solidFill>
                <a:latin typeface="Arial Black"/>
              </a:rPr>
              <a:t>297.329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3FB577"/>
                </a:solidFill>
                <a:latin typeface="Arial Black"/>
              </a:rPr>
              <a:t>1 DE CADA 2 JÓVENES YA PASÓ POR VENTANILLA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20"/>
            <a:ext cx="9418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Registrados en la Central de Riesgos del BCU. Ojo: estar registrado no significa no estar pagando.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3FB577"/>
                </a:solidFill>
                <a:latin typeface="Arial"/>
              </a:rPr>
              <a:t>"Si fuéramos como el promedio, un equipo y medio de esta sala estaría endeudado." ¿Les sorprende?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PREGUNTA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¿Cuáles son las principales razones de endeudamiento en los hogares uruguayos?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2A52"/>
                </a:solidFill>
                <a:latin typeface="Arial"/>
              </a:rPr>
              <a:t>Las razones pueden ir desde cubrir gastos básicos hasta inversiones grandes. Su tarea: adivinar las más comunes. Solo suman si está en la lista.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748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720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arreglar la casa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69748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80720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cancelar una deuda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44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comprar un vehículo o muebles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7472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844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comprar una vivienda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616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gastos corrientes (comida, ropa, limpieza)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25196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3616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gastos mensuales (UTE, OSE, alquiler)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2920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3892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inversión en un negocio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5029200"/>
            <a:ext cx="5440680" cy="621792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90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513892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irse de vacaciones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PREGUNTA 1 · TABLERO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Las respuestas de los uruguayos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647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Gastos corrientes (comida, ropa, hogar)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830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7830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16768" y="17647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FB577"/>
                </a:solidFill>
                <a:latin typeface="Arial Blac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Gastos mensuales (UTE, OSE, alquiler)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2402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240280"/>
            <a:ext cx="4213555" cy="292608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16768" y="22219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74B5"/>
                </a:solidFill>
                <a:latin typeface="Arial Blac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791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Cancelar una deuda previa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6974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697480"/>
            <a:ext cx="3979468" cy="292608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16768" y="26791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C63B5"/>
                </a:solidFill>
                <a:latin typeface="Arial Black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363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Vehículo o muebles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31546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3154680"/>
            <a:ext cx="3511296" cy="292608"/>
          </a:xfrm>
          <a:prstGeom prst="roundRect">
            <a:avLst>
              <a:gd name="adj" fmla="val 8000"/>
            </a:avLst>
          </a:prstGeom>
          <a:solidFill>
            <a:srgbClr val="252A52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16768" y="31363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2A52"/>
                </a:solidFill>
                <a:latin typeface="Arial Black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935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Arreglo de la vivienda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36118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0" y="3611880"/>
            <a:ext cx="2809036" cy="292608"/>
          </a:xfrm>
          <a:prstGeom prst="roundRect">
            <a:avLst>
              <a:gd name="adj" fmla="val 8000"/>
            </a:avLst>
          </a:prstGeom>
          <a:solidFill>
            <a:srgbClr val="6B7093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16768" y="35935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 Black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507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Compra de vivienda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40690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0" y="4069080"/>
            <a:ext cx="1170432" cy="292608"/>
          </a:xfrm>
          <a:prstGeom prst="roundRect">
            <a:avLst>
              <a:gd name="adj" fmla="val 8000"/>
            </a:avLst>
          </a:prstGeom>
          <a:solidFill>
            <a:srgbClr val="6B7093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16768" y="40507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 Black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Inversión en un negocio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45262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54880" y="4526280"/>
            <a:ext cx="702259" cy="292608"/>
          </a:xfrm>
          <a:prstGeom prst="roundRect">
            <a:avLst>
              <a:gd name="adj" fmla="val 8000"/>
            </a:avLst>
          </a:prstGeom>
          <a:solidFill>
            <a:srgbClr val="6B7093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16768" y="45079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 Black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6519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Vacaciones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498348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754880" y="4983480"/>
            <a:ext cx="468172" cy="292608"/>
          </a:xfrm>
          <a:prstGeom prst="roundRect">
            <a:avLst>
              <a:gd name="adj" fmla="val 8000"/>
            </a:avLst>
          </a:prstGeom>
          <a:solidFill>
            <a:srgbClr val="6B7093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16768" y="496519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 Black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Cuando la deuda es para el día a día, lo que falta no es crédito: </a:t>
            </a:r>
            <a:r>
              <a:rPr sz="1450" b="1">
                <a:solidFill>
                  <a:srgbClr val="E85A66"/>
                </a:solidFill>
                <a:latin typeface="Arial"/>
              </a:rPr>
              <a:t>son más ingresos o menos gastos.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PREGUNTA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¿Qué tan buenos deudores son los jóvenes uruguayos?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La Central de Riesgos del BCU clasifica a cada deudor en 5 niveles según los días de atraso: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548640" cy="548640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96312"/>
            <a:ext cx="548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96312"/>
            <a:ext cx="10241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Capacidad de pago fuerte: al día o atraso menor a 10 días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36391"/>
            <a:ext cx="548640" cy="548640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09544"/>
            <a:ext cx="548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09544"/>
            <a:ext cx="10241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Capacidad adecuada o problemas potenciales: 10 a 60 días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9624"/>
            <a:ext cx="548640" cy="548640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22776"/>
            <a:ext cx="548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22776"/>
            <a:ext cx="10241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Capacidad comprometida: 60 a 180 días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62856"/>
            <a:ext cx="548640" cy="548640"/>
          </a:xfrm>
          <a:prstGeom prst="roundRect">
            <a:avLst>
              <a:gd name="adj" fmla="val 8000"/>
            </a:avLst>
          </a:prstGeom>
          <a:solidFill>
            <a:srgbClr val="E85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36008"/>
            <a:ext cx="548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636008"/>
            <a:ext cx="10241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Varias deudas, al menos una irrecuperable (más de 180 días)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76088"/>
            <a:ext cx="548640" cy="548640"/>
          </a:xfrm>
          <a:prstGeom prst="roundRect">
            <a:avLst>
              <a:gd name="adj" fmla="val 8000"/>
            </a:avLst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548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49240"/>
            <a:ext cx="10241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TODAS sus deudas irrecuperables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B7093"/>
                </a:solidFill>
                <a:latin typeface="Arial"/>
              </a:rPr>
              <a:t>¿Cómo creen que están repartidos los jóvenes? Los equipos se alternan nombrando categorías.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PREGUNTA 2 · TABLERO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Así están repartidos (de cada 100 jóvenes deudores)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1051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CAT 1 · Pago fuerte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82880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828800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16768" y="181051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FB577"/>
                </a:solidFill>
                <a:latin typeface="Arial Black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22576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CAT 5 · Todo irrecuperable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340864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340864"/>
            <a:ext cx="3511296" cy="292608"/>
          </a:xfrm>
          <a:prstGeom prst="roundRect">
            <a:avLst>
              <a:gd name="adj" fmla="val 8000"/>
            </a:avLst>
          </a:prstGeom>
          <a:solidFill>
            <a:srgbClr val="E85A66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16768" y="2322576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5A66"/>
                </a:solidFill>
                <a:latin typeface="Arial Black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CAT 4 · Al menos una irrecuperable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852928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852928"/>
            <a:ext cx="1170432" cy="292608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16768" y="283464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C63B5"/>
                </a:solidFill>
                <a:latin typeface="Arial Black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346704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CAT 2 · Pago adecuado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3364992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4880" y="3364992"/>
            <a:ext cx="819302" cy="292608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16768" y="334670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74B5"/>
                </a:solidFill>
                <a:latin typeface="Arial Black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58768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CAT 3 · Pago comprometido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3877056"/>
            <a:ext cx="5852160" cy="292608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0" y="3877056"/>
            <a:ext cx="351129" cy="292608"/>
          </a:xfrm>
          <a:prstGeom prst="roundRect">
            <a:avLst>
              <a:gd name="adj" fmla="val 8000"/>
            </a:avLst>
          </a:prstGeom>
          <a:solidFill>
            <a:srgbClr val="6B7093"/>
          </a:solidFill>
          <a:ln w="1524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16768" y="385876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 Black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E85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864608"/>
            <a:ext cx="10515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Arial Black"/>
              </a:rPr>
              <a:t>1 DE CADA 3 YA TIENE TODAS SUS DEUDAS INCOBRABLES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La mitad paga impecable — y un tercio arrancó con la huella quemada 5 años. Esa diferencia se juega en decisiones chicas.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DESAFÍO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Disparadores para la reflexión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9377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E74B5"/>
                </a:solidFill>
                <a:latin typeface="Arial"/>
              </a:rPr>
              <a:t>Sobre los motivos (P1)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¿Qué motivo les sorprendió más? ¿Por qué?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¿Por qué "vacaciones" o "invertir" están tan abajo?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¿Se puede evitar endeudarse por comida o servicios? ¿Hay que hacerlo?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9377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E74B5"/>
                </a:solidFill>
                <a:latin typeface="Arial"/>
              </a:rPr>
              <a:t>Sobre las categorías (P2)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¿Qué piensan de que la mayoría esté al día?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¿Y de que 1 de cada 3 menores de 30 tenga todo irrecuperable?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• ¿Cómo afectan estas clasificaciones el acceso a crédito futuro? (puente a "huella financiera")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33172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3FB577"/>
                </a:solidFill>
                <a:latin typeface="Arial Black"/>
              </a:rPr>
              <a:t>MENSAJE CLAVE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0">
                <a:solidFill>
                  <a:srgbClr val="FAF3DC"/>
                </a:solidFill>
                <a:latin typeface="Arial Black"/>
              </a:rPr>
              <a:t>El endeudamiento no siempre
es malo…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pero puede reflejar falta de opciones o de planificación. Un mal endeudamiento afecta la huella financiera y limita las opciones futuras.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8580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FAF3DC"/>
                </a:solidFill>
                <a:latin typeface="Arial Black"/>
              </a:rPr>
              <a:t>AGENDA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181051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7510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Actividad rompehielos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79191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2770632"/>
            <a:ext cx="10698480" cy="713232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84378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52A52"/>
                </a:solidFill>
                <a:latin typeface="Arial Black"/>
              </a:rPr>
              <a:t>El juego: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88036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2A52"/>
                </a:solidFill>
                <a:latin typeface="Arial Black"/>
              </a:rPr>
              <a:t>AHORA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54787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12463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Huella financiera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41655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8114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Decidir bien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8523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44982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Ticket de salida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Ahora ustedes son Joaquín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252A52"/>
                </a:solidFill>
                <a:latin typeface="Arial"/>
              </a:rPr>
              <a:t>Joaquín gana $32.000, debe media vida y quiere una moto para hacer delivery.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4B5"/>
                </a:solidFill>
                <a:latin typeface="Arial"/>
              </a:rPr>
              <a:t>Van a manejarle la plata un año entero: 12 meses, una decisión por 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3291840" cy="502920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 Black"/>
              </a:rPr>
              <a:t>BILLETERA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862072"/>
            <a:ext cx="749807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la plata del 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0712"/>
            <a:ext cx="3291840" cy="502920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0215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 Black"/>
              </a:rPr>
              <a:t>FONDO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3483864"/>
            <a:ext cx="749807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el colchón de emergencia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32504"/>
            <a:ext cx="3291840" cy="502920"/>
          </a:xfrm>
          <a:prstGeom prst="roundRect">
            <a:avLst>
              <a:gd name="adj" fmla="val 8000"/>
            </a:avLst>
          </a:prstGeom>
          <a:solidFill>
            <a:srgbClr val="E85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2394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 Black"/>
              </a:rPr>
              <a:t>INTERESES REGALADOS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4105656"/>
            <a:ext cx="749807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lo pagado de más por financiar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54296"/>
            <a:ext cx="3291840" cy="502920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745736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 Black"/>
              </a:rPr>
              <a:t>RACHA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4727448"/>
            <a:ext cx="749807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decisiones buenas seguidas = bonus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76088"/>
            <a:ext cx="3291840" cy="502920"/>
          </a:xfrm>
          <a:prstGeom prst="roundRect">
            <a:avLst>
              <a:gd name="adj" fmla="val 8000"/>
            </a:avLst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67527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Arial Black"/>
              </a:rPr>
              <a:t>HUELLA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5349240"/>
            <a:ext cx="749807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cada marca queda 5 años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B7093"/>
                </a:solidFill>
                <a:latin typeface="Arial"/>
              </a:rPr>
              <a:t>En el camino: quizzes con los datos que acaban de ver, una bocha inesperada en julio y el aguinaldo en diciembre.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Cómo jugamos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685800" cy="685800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856232"/>
            <a:ext cx="96926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52A52"/>
                </a:solidFill>
                <a:latin typeface="Arial Black"/>
              </a:rPr>
              <a:t>EQUIPOS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Cada equipo, a su máquina. Elijan nombre (hasta 12 letras): así aparecen en el tablero.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383280"/>
            <a:ext cx="685800" cy="685800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73552"/>
            <a:ext cx="96926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52A52"/>
                </a:solidFill>
                <a:latin typeface="Arial Black"/>
              </a:rPr>
              <a:t>CÓDIGO DE SALA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Las 3 máquinas ponen el MISMO código de 4 letras. Mismos eventos para todos: la comparación es justa.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4800600"/>
            <a:ext cx="685800" cy="685800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90872"/>
            <a:ext cx="96926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52A52"/>
                </a:solidFill>
                <a:latin typeface="Arial Black"/>
              </a:rPr>
              <a:t>EL TABLERO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El proyector muestra la carrera en vivo: puntos, mes por mes, y la huella de cada equipo.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85A66"/>
                </a:solidFill>
                <a:latin typeface="Arial"/>
              </a:rPr>
              <a:t>Reglas de oro: 45 segundos por decisión (hay reloj) · se debate en equipo · decide el vocero.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Los roles del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Arial Black"/>
              </a:rPr>
              <a:t>VOCERO/A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El único que toca la pantalla. Rota cada 3 meses del juego.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73552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Arial Black"/>
              </a:rPr>
              <a:t>CONTADOR/A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Hace la cuenta EN VOZ ALTA antes de decidir: cuota × cuotas.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8056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Arial Black"/>
              </a:rPr>
              <a:t>ABOGADO/A DEL DIABLO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Arial"/>
              </a:rPr>
              <a:t>Defiende la opción tentadora. Si nadie tienta, no hay mérito en resistir.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"/>
              </a:rPr>
              <a:t>Los demás: opinan, discuten y gritan lo justo. Todos deciden, uno toca.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0" y="1371600"/>
            <a:ext cx="12191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400" b="0">
                <a:solidFill>
                  <a:srgbClr val="3FB577"/>
                </a:solidFill>
                <a:latin typeface="Arial Black"/>
              </a:rPr>
              <a:t>¡A JUGAR!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28346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AF3DC"/>
                </a:solidFill>
                <a:latin typeface="Arial"/>
              </a:rPr>
              <a:t>chelabsweb.github.io/endeudarse-bien-stand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41648" y="3657600"/>
            <a:ext cx="4114800" cy="100584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41648" y="3767328"/>
            <a:ext cx="4114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B7093"/>
                </a:solidFill>
                <a:latin typeface="Arial"/>
              </a:rPr>
              <a:t>CÓDIGO DE SALA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252A52"/>
                </a:solidFill>
                <a:latin typeface="Arial Black"/>
              </a:rPr>
              <a:t>_ _ _ 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49377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15 minutos · 12 meses · el tablero queda en el proyector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FB577"/>
                </a:solidFill>
                <a:latin typeface="Arial"/>
              </a:rPr>
              <a:t>(el facilitador cambia esta pantalla por el modo Proyector del juego)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DESPUÉS DE LA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Leemos el tablero juntos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9377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E74B5"/>
                </a:solidFill>
                <a:latin typeface="Arial"/>
              </a:rPr>
              <a:t>EL PODIO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Intereses regalados = plata quemada: ¿cuánto regaló cada equipo?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Marcas en la huella = 5 años: ¿cuáles se podían evitar?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• Categoría BCU final: conectar con el tablero de la pregunta 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E85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9377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E85A66"/>
                </a:solidFill>
                <a:latin typeface="Arial"/>
              </a:rPr>
              <a:t>"DONDE MÁS NOS CLAVAMOS"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52A52"/>
                </a:solidFill>
                <a:latin typeface="Arial"/>
              </a:rPr>
              <a:t>El proyector muestra los errores más repetidos entre los equipos, con su explicación ("la posta").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Por cada error repetido: ¿por qué era tentador? ¿qué señal lo delataba?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Cada equipo cuenta su peor decisión y qué haría distinto.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LO QUE VIVIERON EN 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Las apariencias engañan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2A52"/>
                </a:solidFill>
                <a:latin typeface="Arial"/>
              </a:rPr>
              <a:t>El celular de $4.500 (como el de Juana en el quiz): tres formas de pagarlo.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566160" cy="30175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200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FB577"/>
                </a:solidFill>
                <a:latin typeface="Arial Black"/>
              </a:rPr>
              <a:t>CONTADO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52A52"/>
                </a:solidFill>
                <a:latin typeface="Arial"/>
              </a:rPr>
              <a:t>1 × $4.500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0">
                <a:solidFill>
                  <a:srgbClr val="3FB577"/>
                </a:solidFill>
                <a:latin typeface="Arial Black"/>
              </a:rPr>
              <a:t>$4.500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Puede pedir descuento y pagar menos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2286000"/>
            <a:ext cx="3566160" cy="30175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2468880"/>
            <a:ext cx="3200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E74B5"/>
                </a:solidFill>
                <a:latin typeface="Arial Black"/>
              </a:rPr>
              <a:t>CUOTAS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52A52"/>
                </a:solidFill>
                <a:latin typeface="Arial"/>
              </a:rPr>
              <a:t>3 × $1.500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0">
                <a:solidFill>
                  <a:srgbClr val="2E74B5"/>
                </a:solidFill>
                <a:latin typeface="Arial Black"/>
              </a:rPr>
              <a:t>$4.500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Mismo total… ¿entonces quién paga la espera?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3" y="2286000"/>
            <a:ext cx="3566160" cy="30175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E85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3" y="2468880"/>
            <a:ext cx="3200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85A66"/>
                </a:solidFill>
                <a:latin typeface="Arial Black"/>
              </a:rPr>
              <a:t>CUOTAS CON INTERESES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52A52"/>
                </a:solidFill>
                <a:latin typeface="Arial"/>
              </a:rPr>
              <a:t>12 × $500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0">
                <a:solidFill>
                  <a:srgbClr val="E85A66"/>
                </a:solidFill>
                <a:latin typeface="Arial Black"/>
              </a:rPr>
              <a:t>$6.000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Paga $1.500 más: un tercio de celular extra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B7093"/>
                </a:solidFill>
                <a:latin typeface="Arial"/>
              </a:rPr>
              <a:t>Si alguien espera 3 meses para cobrar $4.500… otro debería estar dispuesto a dártelo por menos hoy. Y si Juana puede pagar $1.500 por mes: ¿por qué no ahorrarlos ANTES?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LO QUE VIVIERON EN 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Lo barato sale caro: el pago mínimo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40680" cy="356616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FB577"/>
                </a:solidFill>
                <a:latin typeface="Arial Black"/>
              </a:rPr>
              <a:t>PAGO TOTAL (o plan de ataque)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252A52"/>
                </a:solidFill>
                <a:latin typeface="Arial Black"/>
              </a:rPr>
              <a:t>La deuda SE ACHICA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Unos meses de cinturón apretado y la tarjeta muere. Intereses mínimos.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440680" cy="356616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E85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6596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E85A66"/>
                </a:solidFill>
                <a:latin typeface="Arial Black"/>
              </a:rPr>
              <a:t>PAGO MÍNIMO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252A52"/>
                </a:solidFill>
                <a:latin typeface="Arial Black"/>
              </a:rPr>
              <a:t>La deuda SE AGRANDA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El mínimo apenas cubre intereses: pagás y pagás y el saldo ni se entera. La deuda eterna.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7093"/>
                </a:solidFill>
                <a:latin typeface="Arial"/>
              </a:rPr>
              <a:t>En el juego lo vivieron en el Mes 2. En la vida real, el resumen de la tarjeta lo muestra todos los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EL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PAMY: cuatro preguntas antes de firmar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20240"/>
            <a:ext cx="1005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0">
                <a:solidFill>
                  <a:srgbClr val="FFFFFF"/>
                </a:solidFill>
                <a:latin typeface="Arial Black"/>
              </a:rPr>
              <a:t>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947672"/>
            <a:ext cx="3931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 Black"/>
              </a:rPr>
              <a:t>PRECISO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¿Lo preciso de verdad? ¿Y lo preciso YA? Un préstamo es una decisión de tiempo: ¿qué pasa si espero?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1920240"/>
            <a:ext cx="1005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0">
                <a:solidFill>
                  <a:srgbClr val="FFFFFF"/>
                </a:solidFill>
                <a:latin typeface="Arial Black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47672"/>
            <a:ext cx="3931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 Black"/>
              </a:rPr>
              <a:t>AHORRO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¿Tengo ahorrado? ¿Voy a poder ahorrar? Si puedo pagar la cuota, puedo ser mi propio prestamista.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1005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0">
                <a:solidFill>
                  <a:srgbClr val="FFFFFF"/>
                </a:solidFill>
                <a:latin typeface="Arial Black"/>
              </a:rPr>
              <a:t>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4050792"/>
            <a:ext cx="3931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 Black"/>
              </a:rPr>
              <a:t>MEJORES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¿Cuál es mi mejor opción? Bancos (ojo BROU), financieras, cooperativas, tarjetas. Comparar el TOTAL, no la cuota.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794760"/>
            <a:ext cx="5440680" cy="1874519"/>
          </a:xfrm>
          <a:prstGeom prst="roundRect">
            <a:avLst>
              <a:gd name="adj" fmla="val 8000"/>
            </a:avLst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4023360"/>
            <a:ext cx="1005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0">
                <a:solidFill>
                  <a:srgbClr val="FFFFFF"/>
                </a:solidFill>
                <a:latin typeface="Arial Black"/>
              </a:rPr>
              <a:t>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050792"/>
            <a:ext cx="3931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 Black"/>
              </a:rPr>
              <a:t>Y DESPUÉS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¿Cómo lo voy a pagar? ¿Qué gasto comprimo? ¿Cuál es el plan para sostenerlo?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LA CUENTA QUE SALVA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¿Cuántas cuotas son para vos?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6459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252A52"/>
                </a:solidFill>
                <a:latin typeface="Arial"/>
              </a:rPr>
              <a:t>$15.000 en 6 cuotas de $2.999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3FB577"/>
                </a:solidFill>
                <a:latin typeface="Arial Black"/>
              </a:rPr>
              <a:t>6 × $2.999 = $17.994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5 cuotas para vos · 1 entera para la financiera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11879"/>
            <a:ext cx="11064240" cy="16459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E85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76472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252A52"/>
                </a:solidFill>
                <a:latin typeface="Arial"/>
              </a:rPr>
              <a:t>$80.000 en 36 cuotas de $3.999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E85A66"/>
                </a:solidFill>
                <a:latin typeface="Arial Black"/>
              </a:rPr>
              <a:t>36 × $3.999 = $143.964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252A52"/>
                </a:solidFill>
                <a:latin typeface="Arial"/>
              </a:rPr>
              <a:t>20 cuotas para vos · 16 enteras para la financiera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7093"/>
                </a:solidFill>
                <a:latin typeface="Arial"/>
              </a:rPr>
              <a:t>La TEA (tasa efectiva anual) dice cuánto interés pagás por año — se publica en 5 lugares. Pero la cuenta que nunca falla es cuota × cuotas, pedida POR ESCRITO.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33172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3FB577"/>
                </a:solidFill>
                <a:latin typeface="Arial Black"/>
              </a:rPr>
              <a:t>MENSAJE CLAVE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0">
                <a:solidFill>
                  <a:srgbClr val="FAF3DC"/>
                </a:solidFill>
                <a:latin typeface="Arial Black"/>
              </a:rPr>
              <a:t>Endeudarse es ahorrar…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pero ahorrar no solamente para vos: también para pagarle los intereses a quien te prestó. Evaluar costo total, intereses y plazos es la base de una decisión responsable.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8580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FAF3DC"/>
                </a:solidFill>
                <a:latin typeface="Arial Black"/>
              </a:rPr>
              <a:t>AGENDA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181051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7510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Actividad rompehielos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79191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84378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El juego: 12 meses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54787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3639312"/>
            <a:ext cx="10698480" cy="713232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712463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52A52"/>
                </a:solidFill>
                <a:latin typeface="Arial Black"/>
              </a:rPr>
              <a:t>Huella financiera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749039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2A52"/>
                </a:solidFill>
                <a:latin typeface="Arial Black"/>
              </a:rPr>
              <a:t>AHORA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41655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8114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Decidir bien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8523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44982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Ticket de salida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HUELLA FINANCIERA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Los dos espejos donde te miran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al Black"/>
              </a:rPr>
              <a:t>BCU · CENTRAL DE RIESGOS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• Solo sistema financiero regulado: bancos, financieras, cooperativas.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• Tu nota del 1 al 5 según los días de atraso.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• No borra la información aunque canceles la deuda.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al Black"/>
              </a:rPr>
              <a:t>CLEARING DE INFORMES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• Servicios (UTE, OSE), comercios, cheques rechazados, refinanciaciones.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• Muestra quién te consultó en los últimos 6 meses.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• Las marcas duran 5 años desde el registro.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252A52"/>
                </a:solidFill>
                <a:latin typeface="Arial Black"/>
              </a:rPr>
              <a:t>EL BANCO MIRA LOS DOS. En el juego: por eso la UTE impaga también marcó la huella.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HUELLA FINANCIERA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Consultá la tuya: es gratis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r_consu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17520" y="2194560"/>
            <a:ext cx="2834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2E74B5"/>
                </a:solidFill>
                <a:latin typeface="Arial Black"/>
              </a:rPr>
              <a:t>BCU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consultadeuda.bcu.gub.uy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093"/>
                </a:solidFill>
                <a:latin typeface="Arial"/>
              </a:rPr>
              <a:t>Tu categoría y tus deudas en el sistema financiero.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754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6C63B5"/>
                </a:solidFill>
                <a:latin typeface="Arial Black"/>
              </a:rPr>
              <a:t>CLEARING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252A52"/>
                </a:solidFill>
                <a:latin typeface="Arial"/>
              </a:rPr>
              <a:t>clearing.com.uy/personas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093"/>
                </a:solidFill>
                <a:latin typeface="Arial"/>
              </a:rPr>
              <a:t>Servicios, cheques, refinanciaciones y quién te consultó. La primera consulta del período no tiene costo.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La huella de Joaquín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252A52"/>
                </a:solidFill>
                <a:latin typeface="Arial"/>
              </a:rPr>
              <a:t>Joaquín, 27 años, técnico de mantenimiento en Canelones. Gana $32.000 por 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440680" cy="356616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9377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74B5"/>
                </a:solidFill>
                <a:latin typeface="Arial"/>
              </a:rPr>
              <a:t>Historial financiero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Tarjeta con saldo de $10.000: paga el mínimo hace 8 meses (sin atraso).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Préstamo de $120.000 por el auto hace 3 años: le quedan $20.000, al día.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UTE atrasada 2 meses ($4.000).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Un cheque rechazado que sustituyó.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Sin deudas irrecuperables.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286000"/>
            <a:ext cx="5440680" cy="356616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68880"/>
            <a:ext cx="49377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C63B5"/>
                </a:solidFill>
                <a:latin typeface="Arial"/>
              </a:rPr>
              <a:t>Acciones recientes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Refinanció la deuda de la tarjeta con una financiera.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Canceló un préstamo menor de $5.000 hace un año.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252A52"/>
                </a:solidFill>
                <a:latin typeface="Arial"/>
              </a:rPr>
              <a:t>• 6 consultas a su Clearing en 6 meses (Anda, Itaú, Motociclo, Creditel ×2, BROU).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2A52"/>
                </a:solidFill>
                <a:latin typeface="Arial"/>
              </a:rPr>
              <a:t>Quiere pedir $50.000 en el banco para la moto del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¿Le prestarían?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al Black"/>
              </a:rPr>
              <a:t>EL BCU DICE…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Tarjeta al día (paga el mínimo, pero sin atraso).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Préstamo del auto al día.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La UTE y el cheque NO entran acá.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AF3DC"/>
                </a:solidFill>
                <a:latin typeface="Arial Black"/>
              </a:rPr>
              <a:t>→ Categoría 1: parece que SÍ.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al Black"/>
              </a:rPr>
              <a:t>EL CLEARING DICE…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Operación incumplida: SÍ (UTE, 60 días).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Refinanciación: SÍ (la tarjeta).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Cheque rechazado: SÍ. Consultas: 6 en 6 meses.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AF3DC"/>
                </a:solidFill>
                <a:latin typeface="Arial Black"/>
              </a:rPr>
              <a:t>→ Mmm… acá la cosa cambia.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7093"/>
                </a:solidFill>
                <a:latin typeface="Arial"/>
              </a:rPr>
              <a:t>Debate y votación: ¿le prestan? ¿Pesa más la nota del BCU o el Clearing? ¿Importa que la moto genere ingresos?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33172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3FB577"/>
                </a:solidFill>
                <a:latin typeface="Arial Black"/>
              </a:rPr>
              <a:t>MENSAJE CLAVE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0">
                <a:solidFill>
                  <a:srgbClr val="FAF3DC"/>
                </a:solidFill>
                <a:latin typeface="Arial Black"/>
              </a:rPr>
              <a:t>La huella es tu reputación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Cuidarla da acceso a mejores oportunidades y condiciones. Cada decisión cuenta: pagar a tiempo, conocer el historial y planificar con responsabilidad.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8580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FAF3DC"/>
                </a:solidFill>
                <a:latin typeface="Arial Black"/>
              </a:rPr>
              <a:t>AGENDA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181051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7510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Actividad rompehielos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79191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84378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El juego: 12 meses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54787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712463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Huella financiera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41655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507992"/>
            <a:ext cx="10698480" cy="713232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8114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52A52"/>
                </a:solidFill>
                <a:latin typeface="Arial Black"/>
              </a:rPr>
              <a:t>Decidir bien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61772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2A52"/>
                </a:solidFill>
                <a:latin typeface="Arial Black"/>
              </a:rPr>
              <a:t>AHORA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8523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44982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Ticket de salida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DECIDIR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La decisión de Joaquín, en números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6B70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3291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6B7093"/>
                </a:solidFill>
                <a:latin typeface="Arial Black"/>
              </a:rPr>
              <a:t>HOY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Sueldo: $32.000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Gastos: −$24.700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Deudas: −$7.000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Neto: $300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Sin fondo de emergencia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Debe $4.000 de 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1" y="16916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74519"/>
            <a:ext cx="3291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2E74B5"/>
                </a:solidFill>
                <a:latin typeface="Arial Black"/>
              </a:rPr>
              <a:t>EN 4 MESES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Sueldo: $32.000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Gastos: −$24.700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Deudas: −$2.000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Neto: $4.300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Sin fondo de emergencia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Debe $4.000 de 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6916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0183" y="1874519"/>
            <a:ext cx="3291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3FB577"/>
                </a:solidFill>
                <a:latin typeface="Arial Black"/>
              </a:rPr>
              <a:t>CON PRÉSTAMO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Sueldo: $32.000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PedidosYa: +$7.000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Gastos: −$24.700 · Deudas: −$5.999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Neto: $7.301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Fondo de emergencia: $6.000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Sin deuda de 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B7093"/>
                </a:solidFill>
                <a:latin typeface="Arial"/>
              </a:rPr>
              <a:t>Préstamo: $60.000 · cuota $3.999 · la moto suma ~$7.000/mes de delivery… si todo sale bien.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DECIDIR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Ahora ustedes son Joaquín (otra vez)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52A52"/>
                </a:solidFill>
                <a:latin typeface="Arial"/>
              </a:rPr>
              <a:t>La consigna: contarle el plan a la IA asesora y dejarse hacer preguntas.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74B5"/>
                </a:solidFill>
                <a:latin typeface="Arial"/>
              </a:rPr>
              <a:t>Antes de empezar, cada uno anota: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1752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252A52"/>
                </a:solidFill>
                <a:latin typeface="Arial Black"/>
              </a:rPr>
              <a:t>¿Tomarían el préstamo?  SÍ / NO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2A52"/>
                </a:solidFill>
                <a:latin typeface="Arial"/>
              </a:rPr>
              <a:t>Y del 1 al 7: ¿qué tan convencidos están de que es una buena decisión?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7093"/>
                </a:solidFill>
                <a:latin typeface="Arial"/>
              </a:rPr>
              <a:t>La IA no les va a decir qué hacer: pregunta cómo van a cubrir las cuotas, qué pasa si surge un imprevisto, y cómo se imaginan la vida en un año con esa decisión.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DECIDIR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Después de hablar con la 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329184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252A52"/>
                </a:solidFill>
                <a:latin typeface="Arial Black"/>
              </a:rPr>
              <a:t>¿Mantienen la decisión?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52A52"/>
                </a:solidFill>
                <a:latin typeface="Arial"/>
              </a:rPr>
              <a:t>Indiquen de nuevo, del 1 al 7, qué tan convencidos están.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C63B5"/>
                </a:solidFill>
                <a:latin typeface="Arial"/>
              </a:rPr>
              <a:t>¿Cambió algo? ¿Qué apareció en la conversación que no habían pensado?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7093"/>
                </a:solidFill>
                <a:latin typeface="Arial"/>
              </a:rPr>
              <a:t>El punto no es la respuesta: es descubrir que reflexionar ANTES de firmar cambia la decisión.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33172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3FB577"/>
                </a:solidFill>
                <a:latin typeface="Arial Black"/>
              </a:rPr>
              <a:t>MENSAJE CLAVE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400" b="0">
                <a:solidFill>
                  <a:srgbClr val="FAF3DC"/>
                </a:solidFill>
                <a:latin typeface="Arial Black"/>
              </a:rPr>
              <a:t>Los números no alcanzan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Tomar decisiones financieras requiere introspección y planificación. Reflexionar antes de actuar marca la diferencia entre una decisión que te empodera y una que te limita.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8580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0">
                <a:solidFill>
                  <a:srgbClr val="FAF3DC"/>
                </a:solidFill>
                <a:latin typeface="Arial Black"/>
              </a:rPr>
              <a:t>AGENDA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181051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7510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Actividad rompehielos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79191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84378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El juego: 12 meses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54787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712463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Huella financiera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41655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8114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AF3DC"/>
                </a:solidFill>
                <a:latin typeface="Arial"/>
              </a:rPr>
              <a:t>Decidir bien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285232"/>
            <a:ext cx="10424160" cy="20320"/>
          </a:xfrm>
          <a:prstGeom prst="rect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376672"/>
            <a:ext cx="10698480" cy="713232"/>
          </a:xfrm>
          <a:prstGeom prst="roundRect">
            <a:avLst>
              <a:gd name="adj" fmla="val 8000"/>
            </a:avLst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449824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52A52"/>
                </a:solidFill>
                <a:latin typeface="Arial Black"/>
              </a:rPr>
              <a:t>Ticket de salida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5486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2A52"/>
                </a:solidFill>
                <a:latin typeface="Arial Black"/>
              </a:rPr>
              <a:t>AHORA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MINUTO DE 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Las ideas clave del taller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3FB577"/>
                </a:solidFill>
                <a:latin typeface="Arial Black"/>
              </a:rPr>
              <a:t>EL DESAFÍO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La mitad de los jóvenes ya tiene deuda, y la mayoría se endeuda para el día a día. Endeudarse bien se aprende antes.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9164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56232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2E74B5"/>
                </a:solidFill>
                <a:latin typeface="Arial Black"/>
              </a:rPr>
              <a:t>EL JUEGO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Vivimos un año de decisiones: cuotas, mínimos, imprevistos, aguinaldo. El modelo PAMY y la cuenta cuota × cuotas.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6C6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13631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6C63B5"/>
                </a:solidFill>
                <a:latin typeface="Arial Black"/>
              </a:rPr>
              <a:t>LA HUELLA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BCU y Clearing: los dos espejos. Cada clavo marca 5 años; el banco los mira a los 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749039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31750">
            <a:solidFill>
              <a:srgbClr val="25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913631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252A52"/>
                </a:solidFill>
                <a:latin typeface="Arial Black"/>
              </a:rPr>
              <a:t>DECIDIR BIEN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80" b="1">
                <a:solidFill>
                  <a:srgbClr val="252A52"/>
                </a:solidFill>
                <a:latin typeface="Arial"/>
              </a:rPr>
              <a:t>Con la IA reflexionamos cómo nos preparamos para un préstamo. La introspección también es una herramienta financiera.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5A66"/>
                </a:solidFill>
                <a:latin typeface="Arial"/>
              </a:rPr>
              <a:t>Cada participante elige UNA idea que no quiere olvidar… y se la dice a alguien. Decirlo es creerlo.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B577"/>
                </a:solidFill>
                <a:latin typeface="Arial"/>
              </a:rPr>
              <a:t>TICKET DE SALIDA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0">
                <a:solidFill>
                  <a:srgbClr val="252A52"/>
                </a:solidFill>
                <a:latin typeface="Arial Black"/>
              </a:rPr>
              <a:t>Se llevan el juego (y su huella)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3FB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r_ju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17520" y="2194560"/>
            <a:ext cx="2834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3FB577"/>
                </a:solidFill>
                <a:latin typeface="Arial Black"/>
              </a:rPr>
              <a:t>LLEVATE EL JUEGO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Escanealo y jugalo cuando quieras, con quien quieras. Funciona sin internet.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FB577"/>
                </a:solidFill>
                <a:latin typeface="Arial"/>
              </a:rPr>
              <a:t>chelabsweb.github.io/endeudarse-bien-stand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AF3DC"/>
          </a:solidFill>
          <a:ln w="254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consul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011680"/>
            <a:ext cx="192024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0" y="2194560"/>
            <a:ext cx="2743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2E74B5"/>
                </a:solidFill>
                <a:latin typeface="Arial Black"/>
              </a:rPr>
              <a:t>TU HUELLA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52A52"/>
                </a:solidFill>
                <a:latin typeface="Arial"/>
              </a:rPr>
              <a:t>Consultá tu huella de verdad, gratis, al llegar a casa.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1605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consultadeuda.bcu.gub.uy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6B7093"/>
                </a:solidFill>
                <a:latin typeface="Arial"/>
              </a:rPr>
              <a:t>PIN! · TALLER 3 · ENDEUDARSE BIEN — EDICIÓN JUEGO 2026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lus 2"/>
          <p:cNvSpPr/>
          <p:nvPr/>
        </p:nvSpPr>
        <p:spPr>
          <a:xfrm>
            <a:off x="10607040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lus 3"/>
          <p:cNvSpPr/>
          <p:nvPr/>
        </p:nvSpPr>
        <p:spPr>
          <a:xfrm>
            <a:off x="10991088" y="548640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lus 4"/>
          <p:cNvSpPr/>
          <p:nvPr/>
        </p:nvSpPr>
        <p:spPr>
          <a:xfrm>
            <a:off x="10607040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lus 5"/>
          <p:cNvSpPr/>
          <p:nvPr/>
        </p:nvSpPr>
        <p:spPr>
          <a:xfrm>
            <a:off x="10991088" y="932688"/>
            <a:ext cx="146304" cy="146304"/>
          </a:xfrm>
          <a:prstGeom prst="mathPlus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91088" y="1316736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07040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91088" y="1700784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91088" y="2084831"/>
            <a:ext cx="146304" cy="146304"/>
          </a:xfrm>
          <a:prstGeom prst="ellipse">
            <a:avLst/>
          </a:prstGeom>
          <a:solidFill>
            <a:srgbClr val="3FB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lus 12"/>
          <p:cNvSpPr/>
          <p:nvPr/>
        </p:nvSpPr>
        <p:spPr>
          <a:xfrm>
            <a:off x="731520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lus 13"/>
          <p:cNvSpPr/>
          <p:nvPr/>
        </p:nvSpPr>
        <p:spPr>
          <a:xfrm>
            <a:off x="1115568" y="4754880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lus 14"/>
          <p:cNvSpPr/>
          <p:nvPr/>
        </p:nvSpPr>
        <p:spPr>
          <a:xfrm>
            <a:off x="731520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lus 15"/>
          <p:cNvSpPr/>
          <p:nvPr/>
        </p:nvSpPr>
        <p:spPr>
          <a:xfrm>
            <a:off x="1115568" y="5138928"/>
            <a:ext cx="146304" cy="146304"/>
          </a:xfrm>
          <a:prstGeom prst="mathPlus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5522976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568" y="5907024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568" y="6291072"/>
            <a:ext cx="146304" cy="146304"/>
          </a:xfrm>
          <a:prstGeom prst="ellipse">
            <a:avLst/>
          </a:prstGeom>
          <a:solidFill>
            <a:srgbClr val="6C6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FB577"/>
                </a:solidFill>
                <a:latin typeface="Arial Black"/>
              </a:rPr>
              <a:t>LA IDEA FUERZA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3200" b="0">
                <a:solidFill>
                  <a:srgbClr val="FAF3DC"/>
                </a:solidFill>
                <a:latin typeface="Arial Black"/>
              </a:rPr>
              <a:t>Un préstamo es un compromiso de ahorro,
no una solución inmediata.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Reflexionar, planificar y actuar con conciencia: las claves de un endeudamiento saludable y una huella financiera positiva.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576072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AF3DC"/>
                </a:solidFill>
                <a:latin typeface="Arial Black"/>
              </a:rPr>
              <a:t>Pin!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AF3DC"/>
                </a:solidFill>
                <a:latin typeface="Arial"/>
              </a:rPr>
              <a:t>Piques para manejar tu dinero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AF3DC"/>
                </a:solidFill>
                <a:latin typeface="Arial"/>
              </a:rPr>
              <a:t>PIN! · TALLER 3 · ENDEUDARSE BIEN — EDICIÓN JUEGO 2026 ·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