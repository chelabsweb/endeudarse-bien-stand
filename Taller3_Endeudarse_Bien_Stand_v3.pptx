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737360"/>
            <a:ext cx="3840480" cy="3840480"/>
          </a:xfrm>
          <a:prstGeom prst="ellipse">
            <a:avLst/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4937760"/>
            <a:ext cx="3657600" cy="3657600"/>
          </a:xfrm>
          <a:prstGeom prst="ellipse">
            <a:avLst/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966960" y="822960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52760" y="822960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338560" y="822960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E3B341"/>
                </a:solidFill>
                <a:latin typeface="Avenir Next"/>
              </a:rPr>
              <a:t>CENTRAL PARA VOS · LA RUTA DEL BIENESTAR FINANCIERO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10972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8800" b="1">
                <a:solidFill>
                  <a:srgbClr val="FFFFFF"/>
                </a:solidFill>
                <a:latin typeface="Avenir Next"/>
              </a:rPr>
              <a:t>Endeudarse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10972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8800" b="1">
                <a:solidFill>
                  <a:srgbClr val="E3B341"/>
                </a:solidFill>
                <a:latin typeface="Avenir Next"/>
              </a:rPr>
              <a:t>bien</a:t>
            </a:r>
            <a:r>
              <a:rPr sz="8800" b="1">
                <a:solidFill>
                  <a:srgbClr val="FFFFFF"/>
                </a:solidFill>
                <a:latin typeface="Avenir Next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920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9AA5C8"/>
                </a:solidFill>
                <a:latin typeface="Avenir Next"/>
              </a:rPr>
              <a:t>Decisiones financieras informadas  ·  Taller 3, versión stand  ·  edición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CENTRAL PARA VOS · BCU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3B341"/>
                </a:solidFill>
                <a:latin typeface="Avenir Next"/>
              </a:rPr>
              <a:t>EN LOS PRÓXIMOS 40 MINUTOS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venir Next"/>
              </a:rPr>
              <a:t>Hoy van a pasar tres cosas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3429000" cy="356616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3429000" cy="128016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0">
                <a:solidFill>
                  <a:srgbClr val="FFFFFF"/>
                </a:solidFill>
                <a:latin typeface="Avenir Next"/>
              </a:rPr>
              <a:t>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29000"/>
            <a:ext cx="2788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5B8DEF"/>
                </a:solidFill>
                <a:latin typeface="Avenir Next"/>
              </a:rPr>
              <a:t>Un juego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77639"/>
            <a:ext cx="2788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Avenir Next"/>
              </a:rPr>
              <a:t>8 preguntas con el celular sobre cómo nos endeudamos los uruguayos.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1980" y="2011680"/>
            <a:ext cx="3429000" cy="356616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11980" y="2011680"/>
            <a:ext cx="3429000" cy="128016"/>
          </a:xfrm>
          <a:prstGeom prst="roundRect">
            <a:avLst>
              <a:gd name="adj" fmla="val 50000"/>
            </a:avLst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2020" y="251460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0">
                <a:solidFill>
                  <a:srgbClr val="FFFFFF"/>
                </a:solidFill>
                <a:latin typeface="Avenir Next"/>
              </a:rPr>
              <a:t>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2020" y="3429000"/>
            <a:ext cx="2788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E3B341"/>
                </a:solidFill>
                <a:latin typeface="Avenir Next"/>
              </a:rPr>
              <a:t>Un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2020" y="3977639"/>
            <a:ext cx="2788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Avenir Next"/>
              </a:rPr>
              <a:t>Joaquín quiere pedir un préstamo para una moto. Ustedes deciden con él.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011680"/>
            <a:ext cx="3429000" cy="356616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2011680"/>
            <a:ext cx="3429000" cy="128016"/>
          </a:xfrm>
          <a:prstGeom prst="roundRect">
            <a:avLst>
              <a:gd name="adj" fmla="val 50000"/>
            </a:avLst>
          </a:prstGeom>
          <a:solidFill>
            <a:srgbClr val="3DD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251460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0">
                <a:solidFill>
                  <a:srgbClr val="FFFFFF"/>
                </a:solidFill>
                <a:latin typeface="Avenir Next"/>
              </a:rPr>
              <a:t>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429000"/>
            <a:ext cx="2788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3DD68C"/>
                </a:solidFill>
                <a:latin typeface="Avenir Next"/>
              </a:rPr>
              <a:t>Una 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977639"/>
            <a:ext cx="2788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Avenir Next"/>
              </a:rPr>
              <a:t>Al final van a defender el plan frente a Valentina, una asesora con inteligencia artificial.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CENTRAL PARA VOS · BCU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3B341"/>
                </a:solidFill>
                <a:latin typeface="Avenir Next"/>
              </a:rPr>
              <a:t>DESAFÍO FINANCIERO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venir Next"/>
              </a:rPr>
              <a:t>¿Cuánto sabés de cómo nos endeudamos?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86000"/>
            <a:ext cx="6949440" cy="310896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6217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>
                <a:solidFill>
                  <a:srgbClr val="9AA5C8"/>
                </a:solidFill>
                <a:latin typeface="Avenir Next"/>
              </a:rPr>
              <a:t>Entrá con el celu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200400"/>
            <a:ext cx="6217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Avenir Next"/>
              </a:rPr>
              <a:t>kahoot.it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343400"/>
            <a:ext cx="6217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E3B341"/>
                </a:solidFill>
                <a:latin typeface="Avenir Next"/>
              </a:rPr>
              <a:t>PIN en pantalla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286000"/>
            <a:ext cx="3383280" cy="3108960"/>
          </a:xfrm>
          <a:prstGeom prst="roundRect">
            <a:avLst>
              <a:gd name="adj" fmla="val 8000"/>
            </a:avLst>
          </a:prstGeom>
          <a:solidFill>
            <a:srgbClr val="22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2880360"/>
            <a:ext cx="26517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6400" b="1">
                <a:solidFill>
                  <a:srgbClr val="E3B341"/>
                </a:solidFill>
                <a:latin typeface="Avenir Next"/>
              </a:rPr>
              <a:t>8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Avenir Next"/>
              </a:rPr>
              <a:t>preguntas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9AA5C8"/>
                </a:solidFill>
                <a:latin typeface="Avenir Next"/>
              </a:rPr>
              <a:t>~7 minutos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CENTRAL PARA VOS · BCU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3B341"/>
                </a:solidFill>
                <a:latin typeface="Avenir Next"/>
              </a:rPr>
              <a:t>PRIMERO, LO BÁSICO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Avenir Next"/>
              </a:rPr>
              <a:t>Endeudarse es usar hoy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Avenir Next"/>
              </a:rPr>
              <a:t>plata que no es tuya…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Avenir Next"/>
              </a:rPr>
              <a:t>…y devolverla mañana, </a:t>
            </a:r>
            <a:r>
              <a:rPr sz="4400" b="1">
                <a:solidFill>
                  <a:srgbClr val="E3B341"/>
                </a:solidFill>
                <a:latin typeface="Avenir Next"/>
              </a:rPr>
              <a:t>con intereses.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892040"/>
            <a:ext cx="10515600" cy="100584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12064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Avenir Next"/>
              </a:rPr>
              <a:t>No es malo en sí mismo. El problema es </a:t>
            </a:r>
            <a:r>
              <a:rPr sz="1700" b="1">
                <a:solidFill>
                  <a:srgbClr val="E3B341"/>
                </a:solidFill>
                <a:latin typeface="Avenir Next"/>
              </a:rPr>
              <a:t>cuándo, cuánto y para qué</a:t>
            </a:r>
            <a:r>
              <a:rPr sz="1700" b="0">
                <a:solidFill>
                  <a:srgbClr val="FFFFFF"/>
                </a:solidFill>
                <a:latin typeface="Avenir Next"/>
              </a:rPr>
              <a:t> — un mal endeudamiento deja marcas que limitan tus opciones por años.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CENTRAL PARA VOS · BCU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3B341"/>
                </a:solidFill>
                <a:latin typeface="Avenir Next"/>
              </a:rPr>
              <a:t>NO TODA DEUDA ES IGUAL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venir Next"/>
              </a:rPr>
              <a:t>¿Para qué estás pidiendo?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5349240" cy="3749039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5349240" cy="128016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77440"/>
            <a:ext cx="4617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FF6B6B"/>
                </a:solidFill>
                <a:latin typeface="Avenir Next"/>
              </a:rPr>
              <a:t>Deuda para tapar deuda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63240"/>
            <a:ext cx="46177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venir Next"/>
              </a:rPr>
              <a:t>Pedís prestado para cancelar lo que ya debés. La deuda no desaparece: se muda de lugar… y casi siempre crece con nuevos intereses.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489204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SEÑAL DE ALERTA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965960"/>
            <a:ext cx="5349240" cy="3749039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1965960"/>
            <a:ext cx="5349240" cy="128016"/>
          </a:xfrm>
          <a:prstGeom prst="roundRect">
            <a:avLst>
              <a:gd name="adj" fmla="val 50000"/>
            </a:avLst>
          </a:prstGeom>
          <a:solidFill>
            <a:srgbClr val="3DD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377440"/>
            <a:ext cx="4617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3DD68C"/>
                </a:solidFill>
                <a:latin typeface="Avenir Next"/>
              </a:rPr>
              <a:t>Deuda por un bien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063240"/>
            <a:ext cx="46177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venir Next"/>
              </a:rPr>
              <a:t>Pedís prestado para algo que queda o que genera ingresos: una herramienta de trabajo, arreglar la casa, estudiar.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489204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3DD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200" b="1">
                <a:solidFill>
                  <a:srgbClr val="101833"/>
                </a:solidFill>
                <a:latin typeface="Avenir Next"/>
              </a:rPr>
              <a:t>PUEDE SER INVERSIÓN — SI HAY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CENTRAL PARA VOS · BCU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3B341"/>
                </a:solidFill>
                <a:latin typeface="Avenir Next"/>
              </a:rPr>
              <a:t>LO QUE CAMBIÓ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venir Next"/>
              </a:rPr>
              <a:t>La deuda ahora vive en tu celular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2606040" cy="329184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24028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0">
                <a:solidFill>
                  <a:srgbClr val="FFFFFF"/>
                </a:solidFill>
                <a:latin typeface="Avenir Next"/>
              </a:rPr>
              <a:t>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880360"/>
            <a:ext cx="2148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5B8DEF"/>
                </a:solidFill>
                <a:latin typeface="Avenir Next"/>
              </a:rPr>
              <a:t>Préstamos por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611880"/>
            <a:ext cx="2148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Avenir Next"/>
              </a:rPr>
              <a:t>“Aprobado en 5 minutos, sin papeles.” La facilidad no baja el precio: lo esconde.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7580" y="1965960"/>
            <a:ext cx="2606040" cy="329184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53612" y="224028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0">
                <a:solidFill>
                  <a:srgbClr val="FFFFFF"/>
                </a:solidFill>
                <a:latin typeface="Avenir Next"/>
              </a:rPr>
              <a:t>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53612" y="2880360"/>
            <a:ext cx="2148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E3B341"/>
                </a:solidFill>
                <a:latin typeface="Avenir Next"/>
              </a:rPr>
              <a:t>“Pagalo en cuotas”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53612" y="3611880"/>
            <a:ext cx="2148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Avenir Next"/>
              </a:rPr>
              <a:t>Un clic al pagar online y ya firmaste un crédito. ¿Leíste el costo total?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965960"/>
            <a:ext cx="2606040" cy="329184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224028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0">
                <a:solidFill>
                  <a:srgbClr val="FFFFFF"/>
                </a:solidFill>
                <a:latin typeface="Avenir Next"/>
              </a:rPr>
              <a:t>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880360"/>
            <a:ext cx="2148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6B6B"/>
                </a:solidFill>
                <a:latin typeface="Avenir Next"/>
              </a:rPr>
              <a:t>Apuestas online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3611880"/>
            <a:ext cx="2148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Avenir Next"/>
              </a:rPr>
              <a:t>La puerta silenciosa: se apuesta con plata prestada o del pago mínimo. Deuda sin nada a cambio.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21140" y="1965960"/>
            <a:ext cx="2606040" cy="329184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7172" y="224028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0">
                <a:solidFill>
                  <a:srgbClr val="FFFFFF"/>
                </a:solidFill>
                <a:latin typeface="Avenir Next"/>
              </a:rPr>
              <a:t>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7172" y="2880360"/>
            <a:ext cx="2148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3DD68C"/>
                </a:solidFill>
                <a:latin typeface="Avenir Next"/>
              </a:rPr>
              <a:t>El “crédito de la casa”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7172" y="3611880"/>
            <a:ext cx="2148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Avenir Next"/>
              </a:rPr>
              <a:t>La cuotita del comercio de siempre. Sumadas, son un préstamo grande que nadie miró entero.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486400"/>
            <a:ext cx="10835640" cy="777240"/>
          </a:xfrm>
          <a:prstGeom prst="roundRect">
            <a:avLst>
              <a:gd name="adj" fmla="val 8000"/>
            </a:avLst>
          </a:prstGeom>
          <a:solidFill>
            <a:srgbClr val="22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669280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Avenir Next"/>
              </a:rPr>
              <a:t>Nunca fue tan fácil endeudarse. Por eso nunca fue tan importante </a:t>
            </a:r>
            <a:r>
              <a:rPr sz="1700" b="1">
                <a:solidFill>
                  <a:srgbClr val="E3B341"/>
                </a:solidFill>
                <a:latin typeface="Avenir Next"/>
              </a:rPr>
              <a:t>saber hacerlo bien.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CENTRAL PARA VOS · BCU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3B341"/>
                </a:solidFill>
                <a:latin typeface="Avenir Next"/>
              </a:rPr>
              <a:t>EL RIESGO, EN UNA ESCALA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venir Next"/>
              </a:rPr>
              <a:t>El BCU te pone una nota del 1 al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2048256" cy="137160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2048256" cy="109728"/>
          </a:xfrm>
          <a:prstGeom prst="roundRect">
            <a:avLst>
              <a:gd name="adj" fmla="val 50000"/>
            </a:avLst>
          </a:prstGeom>
          <a:solidFill>
            <a:srgbClr val="3DD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204825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3DD68C"/>
                </a:solidFill>
                <a:latin typeface="Avenir Nex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20482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venir Next"/>
              </a:rPr>
              <a:t>Al día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16936" y="1920240"/>
            <a:ext cx="2048256" cy="137160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6936" y="1920240"/>
            <a:ext cx="2048256" cy="109728"/>
          </a:xfrm>
          <a:prstGeom prst="roundRect">
            <a:avLst>
              <a:gd name="adj" fmla="val 50000"/>
            </a:avLst>
          </a:prstGeom>
          <a:solidFill>
            <a:srgbClr val="B8D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16936" y="2148840"/>
            <a:ext cx="204825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B8D66B"/>
                </a:solidFill>
                <a:latin typeface="Avenir Nex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6936" y="2788920"/>
            <a:ext cx="20482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venir Next"/>
              </a:rPr>
              <a:t>Atrasos leves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48072" y="1920240"/>
            <a:ext cx="2048256" cy="137160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48072" y="1920240"/>
            <a:ext cx="2048256" cy="109728"/>
          </a:xfrm>
          <a:prstGeom prst="roundRect">
            <a:avLst>
              <a:gd name="adj" fmla="val 50000"/>
            </a:avLst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48072" y="2148840"/>
            <a:ext cx="204825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E3B341"/>
                </a:solidFill>
                <a:latin typeface="Avenir Next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8072" y="2788920"/>
            <a:ext cx="20482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venir Next"/>
              </a:rPr>
              <a:t>Muy atrasado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79208" y="1920240"/>
            <a:ext cx="2048256" cy="137160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79208" y="1920240"/>
            <a:ext cx="2048256" cy="109728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9208" y="2148840"/>
            <a:ext cx="204825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2994A"/>
                </a:solidFill>
                <a:latin typeface="Avenir Next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9208" y="2788920"/>
            <a:ext cx="20482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venir Next"/>
              </a:rPr>
              <a:t>Algo irrecuperable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10344" y="1920240"/>
            <a:ext cx="2048256" cy="137160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10344" y="1920240"/>
            <a:ext cx="2048256" cy="109728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10344" y="2148840"/>
            <a:ext cx="204825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F6B6B"/>
                </a:solidFill>
                <a:latin typeface="Avenir Next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0344" y="2788920"/>
            <a:ext cx="20482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venir Next"/>
              </a:rPr>
              <a:t>Todo irrecuperable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657600"/>
            <a:ext cx="5349240" cy="210312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3977639"/>
            <a:ext cx="46634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3DD68C"/>
                </a:solidFill>
                <a:latin typeface="Avenir Next"/>
              </a:rPr>
              <a:t>1 de cada 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venir Next"/>
              </a:rPr>
              <a:t>jóvenes deudores está al día,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venir Next"/>
              </a:rPr>
              <a:t>con capacidad de pago fuerte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657600"/>
            <a:ext cx="5349240" cy="210312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3977639"/>
            <a:ext cx="46634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6B6B"/>
                </a:solidFill>
                <a:latin typeface="Avenir Next"/>
              </a:rPr>
              <a:t>1 de cada 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venir Next"/>
              </a:rPr>
              <a:t>tiene TODAS sus deudas irrecuperables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9AA5C8"/>
                </a:solidFill>
                <a:latin typeface="Avenir Next"/>
              </a:rPr>
              <a:t>(más de 180 días de atraso)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9436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9AA5C8"/>
                </a:solidFill>
                <a:latin typeface="Avenir Next"/>
              </a:rPr>
              <a:t>Fuente: BCU, “Endeudamiento de los jóvenes en Uruguay” (2024). Dato 2025: más de 1 de cada 3 que entró al crédito por primera vez ya está en mora.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CENTRAL PARA VOS · BCU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3B341"/>
                </a:solidFill>
                <a:latin typeface="Avenir Next"/>
              </a:rPr>
              <a:t>EL CASO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venir Next"/>
              </a:rPr>
              <a:t>Conocemos a Joaquín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4206240" cy="3977639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86000"/>
            <a:ext cx="356616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000" b="0">
                <a:solidFill>
                  <a:srgbClr val="FFFFFF"/>
                </a:solidFill>
                <a:latin typeface="Avenir Next"/>
              </a:rPr>
              <a:t>🧑‍🔧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E3B341"/>
                </a:solidFill>
                <a:latin typeface="Avenir Next"/>
              </a:rPr>
              <a:t>Joaquín, 27 años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venir Next"/>
              </a:rPr>
              <a:t>Vive en Canelones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venir Next"/>
              </a:rPr>
              <a:t>Técnico de mantenimiento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venir Next"/>
              </a:rPr>
              <a:t>Gana $40.000 por 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57800" y="1965960"/>
            <a:ext cx="6263640" cy="86868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23560" y="219456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9AA5C8"/>
                </a:solidFill>
                <a:latin typeface="Avenir Next"/>
              </a:rPr>
              <a:t>Gastos del 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130552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Avenir Next"/>
              </a:rPr>
              <a:t>$32.700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7800" y="2990088"/>
            <a:ext cx="6263640" cy="86868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3218688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9AA5C8"/>
                </a:solidFill>
                <a:latin typeface="Avenir Next"/>
              </a:rPr>
              <a:t>Cuotas de deudas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154680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Avenir Next"/>
              </a:rPr>
              <a:t>$7.000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4041648"/>
            <a:ext cx="6263640" cy="1901952"/>
          </a:xfrm>
          <a:prstGeom prst="roundRect">
            <a:avLst>
              <a:gd name="adj" fmla="val 8000"/>
            </a:avLst>
          </a:prstGeom>
          <a:solidFill>
            <a:srgbClr val="22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23560" y="4297680"/>
            <a:ext cx="3474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venir Next"/>
              </a:rPr>
              <a:t>Le queda libre…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4224528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6600" b="1">
                <a:solidFill>
                  <a:srgbClr val="FF6B6B"/>
                </a:solidFill>
                <a:latin typeface="Avenir Next"/>
              </a:rPr>
              <a:t>$300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544068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9AA5C8"/>
                </a:solidFill>
                <a:latin typeface="Avenir Next"/>
              </a:rPr>
              <a:t>Sin ahorros ni fondo de emergencia.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CENTRAL PARA VOS · BCU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3B341"/>
                </a:solidFill>
                <a:latin typeface="Avenir Next"/>
              </a:rPr>
              <a:t>EL CASO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venir Next"/>
              </a:rPr>
              <a:t>Su historial financiero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10835640" cy="82296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8424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venir Next"/>
              </a:rPr>
              <a:t>Tarjeta de crédito: $10.000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31720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9AA5C8"/>
                </a:solidFill>
                <a:latin typeface="Avenir Next"/>
              </a:rPr>
              <a:t>Hace 8 meses paga solo el mínimo. La refinanció con una financiera.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2075688"/>
            <a:ext cx="2834640" cy="438912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venir Next"/>
              </a:rPr>
              <a:t>DEUDA-TAPA-DEUDA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816352"/>
            <a:ext cx="10835640" cy="82296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92608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venir Next"/>
              </a:rPr>
              <a:t>Préstamo del auto: quedan $20.000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73552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9AA5C8"/>
                </a:solidFill>
                <a:latin typeface="Avenir Next"/>
              </a:rPr>
              <a:t>Al día. Le faltan 4 cuotas de $5.000 para terminarlo.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3017520"/>
            <a:ext cx="2834640" cy="438912"/>
          </a:xfrm>
          <a:prstGeom prst="roundRect">
            <a:avLst>
              <a:gd name="adj" fmla="val 50000"/>
            </a:avLst>
          </a:prstGeom>
          <a:solidFill>
            <a:srgbClr val="3DD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050" b="1">
                <a:solidFill>
                  <a:srgbClr val="101833"/>
                </a:solidFill>
                <a:latin typeface="Avenir Next"/>
              </a:rPr>
              <a:t>DEUDA POR UN BIEN, AL DÍA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58183"/>
            <a:ext cx="10835640" cy="82296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67911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venir Next"/>
              </a:rPr>
              <a:t>UTE: debe $4.000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215383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9AA5C8"/>
                </a:solidFill>
                <a:latin typeface="Avenir Next"/>
              </a:rPr>
              <a:t>Dos meses de atraso en la factura.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3959351"/>
            <a:ext cx="2834640" cy="438912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venir Next"/>
              </a:rPr>
              <a:t>INCUMPLIMIENTO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700016"/>
            <a:ext cx="10835640" cy="82296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809744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venir Next"/>
              </a:rPr>
              <a:t>Un cheque rechazado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157216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9AA5C8"/>
                </a:solidFill>
                <a:latin typeface="Avenir Next"/>
              </a:rPr>
              <a:t>Lo sustituyó, pero el rechazo quedó registrado.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4901183"/>
            <a:ext cx="2834640" cy="438912"/>
          </a:xfrm>
          <a:prstGeom prst="roundRect">
            <a:avLst>
              <a:gd name="adj" fmla="val 50000"/>
            </a:avLst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050" b="1">
                <a:solidFill>
                  <a:srgbClr val="101833"/>
                </a:solidFill>
                <a:latin typeface="Avenir Next"/>
              </a:rPr>
              <a:t>MARCA EN EL HISTORIAL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760720"/>
            <a:ext cx="10835640" cy="566928"/>
          </a:xfrm>
          <a:prstGeom prst="roundRect">
            <a:avLst>
              <a:gd name="adj" fmla="val 8000"/>
            </a:avLst>
          </a:prstGeom>
          <a:solidFill>
            <a:srgbClr val="22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879592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E3B341"/>
                </a:solidFill>
                <a:latin typeface="Avenir Next"/>
              </a:rPr>
              <a:t>Nada en estado irrecuperable — pero la huella ya tiene marcas.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CENTRAL PARA VOS · BCU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3B341"/>
                </a:solidFill>
                <a:latin typeface="Avenir Next"/>
              </a:rPr>
              <a:t>EL PLAN DE JOAQUÍN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venir Next"/>
              </a:rPr>
              <a:t>Pedir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200" b="1">
                <a:solidFill>
                  <a:srgbClr val="E3B341"/>
                </a:solidFill>
                <a:latin typeface="Avenir Next"/>
              </a:rPr>
              <a:t>$70.000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venir Next"/>
              </a:rPr>
              <a:t>para una moto, hacer delivery y sumar </a:t>
            </a:r>
            <a:r>
              <a:rPr sz="2800" b="1">
                <a:solidFill>
                  <a:srgbClr val="3DD68C"/>
                </a:solidFill>
                <a:latin typeface="Avenir Next"/>
              </a:rPr>
              <a:t>+$7.000 por 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663440"/>
            <a:ext cx="10515600" cy="123444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89204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Avenir Next"/>
              </a:rPr>
              <a:t>Deuda por un bien que genera ingresos. Suena bien…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1">
                <a:solidFill>
                  <a:srgbClr val="E3B341"/>
                </a:solidFill>
                <a:latin typeface="Avenir Next"/>
              </a:rPr>
              <a:t>¿pero le conviene? ¿Y el banco, le prestaría?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CENTRAL PARA VOS · BCU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3B341"/>
                </a:solidFill>
                <a:latin typeface="Avenir Next"/>
              </a:rPr>
              <a:t>VOTACIÓN · A MANO ALZADA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venir Next"/>
              </a:rPr>
              <a:t>¿Vos qué harías en su lugar?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03120"/>
            <a:ext cx="3429000" cy="301752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>
                <a:solidFill>
                  <a:srgbClr val="5B8DEF"/>
                </a:solidFill>
                <a:latin typeface="Avenir Next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46120"/>
            <a:ext cx="2788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Avenir Next"/>
              </a:rPr>
              <a:t>Pide el préstamo 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86200"/>
            <a:ext cx="2788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9AA5C8"/>
                </a:solidFill>
                <a:latin typeface="Avenir Next"/>
              </a:rPr>
              <a:t>El plan es bueno: cada mes que espera pierde plata.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980" y="2103120"/>
            <a:ext cx="3429000" cy="301752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2020" y="237744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>
                <a:solidFill>
                  <a:srgbClr val="E3B341"/>
                </a:solidFill>
                <a:latin typeface="Avenir Next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2020" y="3246120"/>
            <a:ext cx="2788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Avenir Next"/>
              </a:rPr>
              <a:t>Espera 4 meses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2020" y="3886200"/>
            <a:ext cx="2788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9AA5C8"/>
                </a:solidFill>
                <a:latin typeface="Avenir Next"/>
              </a:rPr>
              <a:t>Primero termina el auto y se pone al día. Después decide.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103120"/>
            <a:ext cx="3429000" cy="301752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237744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>
                <a:solidFill>
                  <a:srgbClr val="FF6B6B"/>
                </a:solidFill>
                <a:latin typeface="Avenir Next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246120"/>
            <a:ext cx="2788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Avenir Next"/>
              </a:rPr>
              <a:t>Ni loco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886200"/>
            <a:ext cx="2788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9AA5C8"/>
                </a:solidFill>
                <a:latin typeface="Avenir Next"/>
              </a:rPr>
              <a:t>Con $300 libres y sin fondo de emergencia, no es momento.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440680"/>
            <a:ext cx="10835640" cy="685800"/>
          </a:xfrm>
          <a:prstGeom prst="roundRect">
            <a:avLst>
              <a:gd name="adj" fmla="val 8000"/>
            </a:avLst>
          </a:prstGeom>
          <a:solidFill>
            <a:srgbClr val="22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605272"/>
            <a:ext cx="10241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venir Next"/>
              </a:rPr>
              <a:t>Guardá tu voto: </a:t>
            </a:r>
            <a:r>
              <a:rPr sz="1600" b="1">
                <a:solidFill>
                  <a:srgbClr val="E3B341"/>
                </a:solidFill>
                <a:latin typeface="Avenir Next"/>
              </a:rPr>
              <a:t>al final del taller lo vamos a volver a mirar.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CENTRAL PARA VOS · BCU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3B341"/>
                </a:solidFill>
                <a:latin typeface="Avenir Next"/>
              </a:rPr>
              <a:t>LAS OPCIONES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venir Next"/>
              </a:rPr>
              <a:t>¿Dónde consigue la plata?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3429000" cy="141732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75688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50" b="1">
                <a:solidFill>
                  <a:srgbClr val="E3B341"/>
                </a:solidFill>
                <a:latin typeface="Avenir Next"/>
              </a:rPr>
              <a:t>Bancos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24327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Avenir Next"/>
              </a:rPr>
              <a:t>Mejores condiciones, más requisitos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1980" y="1874519"/>
            <a:ext cx="3429000" cy="141732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6300" y="2075688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50" b="1">
                <a:solidFill>
                  <a:srgbClr val="E3B341"/>
                </a:solidFill>
                <a:latin typeface="Avenir Next"/>
              </a:rPr>
              <a:t>Financieras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6300" y="2624327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Avenir Next"/>
              </a:rPr>
              <a:t>Rápido y fácil… pero más caro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874519"/>
            <a:ext cx="3429000" cy="141732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075688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50" b="1">
                <a:solidFill>
                  <a:srgbClr val="E3B341"/>
                </a:solidFill>
                <a:latin typeface="Avenir Next"/>
              </a:rPr>
              <a:t>Comercios y casas de crédito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624327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Avenir Next"/>
              </a:rPr>
              <a:t>El “crédito de la casa”, tarjetas propias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74720"/>
            <a:ext cx="3429000" cy="141732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675887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50" b="1">
                <a:solidFill>
                  <a:srgbClr val="E3B341"/>
                </a:solidFill>
                <a:latin typeface="Avenir Next"/>
              </a:rPr>
              <a:t>Tarjeta de crédito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224528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Avenir Next"/>
              </a:rPr>
              <a:t>Corto plazo. Ojo con el pago mínimo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11980" y="3474720"/>
            <a:ext cx="3429000" cy="141732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6300" y="3675887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50" b="1">
                <a:solidFill>
                  <a:srgbClr val="E3B341"/>
                </a:solidFill>
                <a:latin typeface="Avenir Next"/>
              </a:rPr>
              <a:t>Cooperativas y mutuales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6300" y="4224528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Avenir Next"/>
              </a:rPr>
              <a:t>Préstamos para socios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474720"/>
            <a:ext cx="3429000" cy="141732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675887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50" b="1">
                <a:solidFill>
                  <a:srgbClr val="E3B341"/>
                </a:solidFill>
                <a:latin typeface="Avenir Next"/>
              </a:rPr>
              <a:t>Microcréditos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224528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Avenir Next"/>
              </a:rPr>
              <a:t>Para emprender o equiparse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349240"/>
            <a:ext cx="10835640" cy="777240"/>
          </a:xfrm>
          <a:prstGeom prst="roundRect">
            <a:avLst>
              <a:gd name="adj" fmla="val 8000"/>
            </a:avLst>
          </a:prstGeom>
          <a:solidFill>
            <a:srgbClr val="5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541264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venir Next"/>
              </a:rPr>
              <a:t>Préstamos informales (“te presto yo”): alto riesgo y cero regulación. </a:t>
            </a:r>
            <a:r>
              <a:rPr sz="1800" b="1">
                <a:solidFill>
                  <a:srgbClr val="FF6B6B"/>
                </a:solidFill>
                <a:latin typeface="Avenir Next"/>
              </a:rPr>
              <a:t>No.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CENTRAL PARA VOS · BCU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3B341"/>
                </a:solidFill>
                <a:latin typeface="Avenir Next"/>
              </a:rPr>
              <a:t>LA TRAMPA MÁS COMÚN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venir Next"/>
              </a:rPr>
              <a:t>La “tasita”: la cuota chica engaña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5349240" cy="365760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4028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venir Next"/>
              </a:rPr>
              <a:t>Pedís $15.000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432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9AA5C8"/>
                </a:solidFill>
                <a:latin typeface="Avenir Next"/>
              </a:rPr>
              <a:t>6 cuotas de $2.999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38328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>
                <a:solidFill>
                  <a:srgbClr val="E3B341"/>
                </a:solidFill>
                <a:latin typeface="Avenir Next"/>
              </a:rPr>
              <a:t>$17.994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343400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9AA5C8"/>
                </a:solidFill>
                <a:latin typeface="Avenir Next"/>
              </a:rPr>
              <a:t>terminás pagando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Avenir Next"/>
              </a:rPr>
              <a:t>$2.994 de intereses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920240"/>
            <a:ext cx="5349240" cy="365760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1920240"/>
            <a:ext cx="5349240" cy="128016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24028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venir Next"/>
              </a:rPr>
              <a:t>Pedís $80.000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7432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9AA5C8"/>
                </a:solidFill>
                <a:latin typeface="Avenir Next"/>
              </a:rPr>
              <a:t>36 cuotas de $3.999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38328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>
                <a:solidFill>
                  <a:srgbClr val="FF6B6B"/>
                </a:solidFill>
                <a:latin typeface="Avenir Next"/>
              </a:rPr>
              <a:t>$143.964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343400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9AA5C8"/>
                </a:solidFill>
                <a:latin typeface="Avenir Next"/>
              </a:rPr>
              <a:t>terminás pagando — casi el doble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Avenir Next"/>
              </a:rPr>
              <a:t>$63.964 de intereses: casi otro préstamo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806440"/>
            <a:ext cx="10835640" cy="566928"/>
          </a:xfrm>
          <a:prstGeom prst="roundRect">
            <a:avLst>
              <a:gd name="adj" fmla="val 8000"/>
            </a:avLst>
          </a:prstGeom>
          <a:solidFill>
            <a:srgbClr val="22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925312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Avenir Next"/>
              </a:rPr>
              <a:t>La cuenta que te salva, SIEMPRE:  </a:t>
            </a:r>
            <a:r>
              <a:rPr sz="1600" b="1">
                <a:solidFill>
                  <a:srgbClr val="E3B341"/>
                </a:solidFill>
                <a:latin typeface="Avenir Next"/>
              </a:rPr>
              <a:t>costo total = cuota × cantidad de cuotas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CENTRAL PARA VOS · BCU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3B341"/>
                </a:solidFill>
                <a:latin typeface="Avenir Next"/>
              </a:rPr>
              <a:t>EL MISMO PRÉSTAMO, VISTO DE OTRA MANERA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venir Next"/>
              </a:rPr>
              <a:t>¿Cuotas para quién?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9AA5C8"/>
                </a:solidFill>
                <a:latin typeface="Avenir Next"/>
              </a:rPr>
              <a:t>$80.000 en 36 cuotas de $3.999: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286000"/>
            <a:ext cx="713232" cy="713232"/>
          </a:xfrm>
          <a:prstGeom prst="roundRect">
            <a:avLst>
              <a:gd name="adj" fmla="val 18000"/>
            </a:avLst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609344" y="2286000"/>
            <a:ext cx="713232" cy="713232"/>
          </a:xfrm>
          <a:prstGeom prst="roundRect">
            <a:avLst>
              <a:gd name="adj" fmla="val 18000"/>
            </a:avLst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05456" y="2286000"/>
            <a:ext cx="713232" cy="713232"/>
          </a:xfrm>
          <a:prstGeom prst="roundRect">
            <a:avLst>
              <a:gd name="adj" fmla="val 18000"/>
            </a:avLst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2286000"/>
            <a:ext cx="713232" cy="713232"/>
          </a:xfrm>
          <a:prstGeom prst="roundRect">
            <a:avLst>
              <a:gd name="adj" fmla="val 18000"/>
            </a:avLst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80" y="2286000"/>
            <a:ext cx="713232" cy="713232"/>
          </a:xfrm>
          <a:prstGeom prst="roundRect">
            <a:avLst>
              <a:gd name="adj" fmla="val 18000"/>
            </a:avLst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93792" y="2286000"/>
            <a:ext cx="713232" cy="713232"/>
          </a:xfrm>
          <a:prstGeom prst="roundRect">
            <a:avLst>
              <a:gd name="adj" fmla="val 18000"/>
            </a:avLst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89904" y="2286000"/>
            <a:ext cx="713232" cy="713232"/>
          </a:xfrm>
          <a:prstGeom prst="roundRect">
            <a:avLst>
              <a:gd name="adj" fmla="val 18000"/>
            </a:avLst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86016" y="2286000"/>
            <a:ext cx="713232" cy="713232"/>
          </a:xfrm>
          <a:prstGeom prst="roundRect">
            <a:avLst>
              <a:gd name="adj" fmla="val 18000"/>
            </a:avLst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82127" y="2286000"/>
            <a:ext cx="713232" cy="713232"/>
          </a:xfrm>
          <a:prstGeom prst="roundRect">
            <a:avLst>
              <a:gd name="adj" fmla="val 18000"/>
            </a:avLst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778240" y="2286000"/>
            <a:ext cx="713232" cy="713232"/>
          </a:xfrm>
          <a:prstGeom prst="roundRect">
            <a:avLst>
              <a:gd name="adj" fmla="val 18000"/>
            </a:avLst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74352" y="2286000"/>
            <a:ext cx="713232" cy="713232"/>
          </a:xfrm>
          <a:prstGeom prst="roundRect">
            <a:avLst>
              <a:gd name="adj" fmla="val 18000"/>
            </a:avLst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570463" y="2286000"/>
            <a:ext cx="713232" cy="713232"/>
          </a:xfrm>
          <a:prstGeom prst="roundRect">
            <a:avLst>
              <a:gd name="adj" fmla="val 18000"/>
            </a:avLst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182112"/>
            <a:ext cx="713232" cy="713232"/>
          </a:xfrm>
          <a:prstGeom prst="roundRect">
            <a:avLst>
              <a:gd name="adj" fmla="val 18000"/>
            </a:avLst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609344" y="3182112"/>
            <a:ext cx="713232" cy="713232"/>
          </a:xfrm>
          <a:prstGeom prst="roundRect">
            <a:avLst>
              <a:gd name="adj" fmla="val 18000"/>
            </a:avLst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505456" y="3182112"/>
            <a:ext cx="713232" cy="713232"/>
          </a:xfrm>
          <a:prstGeom prst="roundRect">
            <a:avLst>
              <a:gd name="adj" fmla="val 18000"/>
            </a:avLst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01568" y="3182112"/>
            <a:ext cx="713232" cy="713232"/>
          </a:xfrm>
          <a:prstGeom prst="roundRect">
            <a:avLst>
              <a:gd name="adj" fmla="val 18000"/>
            </a:avLst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97680" y="3182112"/>
            <a:ext cx="713232" cy="713232"/>
          </a:xfrm>
          <a:prstGeom prst="roundRect">
            <a:avLst>
              <a:gd name="adj" fmla="val 18000"/>
            </a:avLst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193792" y="3182112"/>
            <a:ext cx="713232" cy="713232"/>
          </a:xfrm>
          <a:prstGeom prst="roundRect">
            <a:avLst>
              <a:gd name="adj" fmla="val 18000"/>
            </a:avLst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089904" y="3182112"/>
            <a:ext cx="713232" cy="713232"/>
          </a:xfrm>
          <a:prstGeom prst="roundRect">
            <a:avLst>
              <a:gd name="adj" fmla="val 18000"/>
            </a:avLst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86016" y="3182112"/>
            <a:ext cx="713232" cy="713232"/>
          </a:xfrm>
          <a:prstGeom prst="roundRect">
            <a:avLst>
              <a:gd name="adj" fmla="val 18000"/>
            </a:avLst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882127" y="3182112"/>
            <a:ext cx="713232" cy="713232"/>
          </a:xfrm>
          <a:prstGeom prst="roundRect">
            <a:avLst>
              <a:gd name="adj" fmla="val 18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778240" y="3182112"/>
            <a:ext cx="713232" cy="713232"/>
          </a:xfrm>
          <a:prstGeom prst="roundRect">
            <a:avLst>
              <a:gd name="adj" fmla="val 18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74352" y="3182112"/>
            <a:ext cx="713232" cy="713232"/>
          </a:xfrm>
          <a:prstGeom prst="roundRect">
            <a:avLst>
              <a:gd name="adj" fmla="val 18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70463" y="3182112"/>
            <a:ext cx="713232" cy="713232"/>
          </a:xfrm>
          <a:prstGeom prst="roundRect">
            <a:avLst>
              <a:gd name="adj" fmla="val 18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13232" y="4078224"/>
            <a:ext cx="713232" cy="713232"/>
          </a:xfrm>
          <a:prstGeom prst="roundRect">
            <a:avLst>
              <a:gd name="adj" fmla="val 18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609344" y="4078224"/>
            <a:ext cx="713232" cy="713232"/>
          </a:xfrm>
          <a:prstGeom prst="roundRect">
            <a:avLst>
              <a:gd name="adj" fmla="val 18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505456" y="4078224"/>
            <a:ext cx="713232" cy="713232"/>
          </a:xfrm>
          <a:prstGeom prst="roundRect">
            <a:avLst>
              <a:gd name="adj" fmla="val 18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401568" y="4078224"/>
            <a:ext cx="713232" cy="713232"/>
          </a:xfrm>
          <a:prstGeom prst="roundRect">
            <a:avLst>
              <a:gd name="adj" fmla="val 18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297680" y="4078224"/>
            <a:ext cx="713232" cy="713232"/>
          </a:xfrm>
          <a:prstGeom prst="roundRect">
            <a:avLst>
              <a:gd name="adj" fmla="val 18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193792" y="4078224"/>
            <a:ext cx="713232" cy="713232"/>
          </a:xfrm>
          <a:prstGeom prst="roundRect">
            <a:avLst>
              <a:gd name="adj" fmla="val 18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089904" y="4078224"/>
            <a:ext cx="713232" cy="713232"/>
          </a:xfrm>
          <a:prstGeom prst="roundRect">
            <a:avLst>
              <a:gd name="adj" fmla="val 18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986016" y="4078224"/>
            <a:ext cx="713232" cy="713232"/>
          </a:xfrm>
          <a:prstGeom prst="roundRect">
            <a:avLst>
              <a:gd name="adj" fmla="val 18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882127" y="4078224"/>
            <a:ext cx="713232" cy="713232"/>
          </a:xfrm>
          <a:prstGeom prst="roundRect">
            <a:avLst>
              <a:gd name="adj" fmla="val 18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778240" y="4078224"/>
            <a:ext cx="713232" cy="713232"/>
          </a:xfrm>
          <a:prstGeom prst="roundRect">
            <a:avLst>
              <a:gd name="adj" fmla="val 18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674352" y="4078224"/>
            <a:ext cx="713232" cy="713232"/>
          </a:xfrm>
          <a:prstGeom prst="roundRect">
            <a:avLst>
              <a:gd name="adj" fmla="val 18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570463" y="4078224"/>
            <a:ext cx="713232" cy="713232"/>
          </a:xfrm>
          <a:prstGeom prst="roundRect">
            <a:avLst>
              <a:gd name="adj" fmla="val 18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2" y="516636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5B8DEF"/>
                </a:solidFill>
                <a:latin typeface="Avenir Next"/>
              </a:rPr>
              <a:t>■ 20 cuotas </a:t>
            </a:r>
            <a:r>
              <a:rPr sz="1600" b="0">
                <a:solidFill>
                  <a:srgbClr val="FFFFFF"/>
                </a:solidFill>
                <a:latin typeface="Avenir Next"/>
              </a:rPr>
              <a:t>pagan la plata que usaste vos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516636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6B6B"/>
                </a:solidFill>
                <a:latin typeface="Avenir Next"/>
              </a:rPr>
              <a:t>■ 16 cuotas </a:t>
            </a:r>
            <a:r>
              <a:rPr sz="1600" b="0">
                <a:solidFill>
                  <a:srgbClr val="FFFFFF"/>
                </a:solidFill>
                <a:latin typeface="Avenir Next"/>
              </a:rPr>
              <a:t>son solo para la financiera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5806440"/>
            <a:ext cx="10835640" cy="566928"/>
          </a:xfrm>
          <a:prstGeom prst="roundRect">
            <a:avLst>
              <a:gd name="adj" fmla="val 8000"/>
            </a:avLst>
          </a:prstGeom>
          <a:solidFill>
            <a:srgbClr val="22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" y="5925312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E3B341"/>
                </a:solidFill>
                <a:latin typeface="Avenir Next"/>
              </a:rPr>
              <a:t>Casi la mitad de tu esfuerzo no compra nada: paga el costo de no poder esperar.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CENTRAL PARA VOS · BCU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3B341"/>
                </a:solidFill>
                <a:latin typeface="Avenir Next"/>
              </a:rPr>
              <a:t>PARA LLEVARSE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venir Next"/>
              </a:rPr>
              <a:t>Dos reglas que te salvan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5349240" cy="356616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331720"/>
            <a:ext cx="4617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800" b="1">
                <a:solidFill>
                  <a:srgbClr val="E3B341"/>
                </a:solidFill>
                <a:latin typeface="Avenir Nex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291840"/>
            <a:ext cx="4617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Avenir Next"/>
              </a:rPr>
              <a:t>Mirá el costo 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931920"/>
            <a:ext cx="4617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Avenir Next"/>
              </a:rPr>
              <a:t>Cuota × cantidad de cuotas, antes de firmar. Pedila por escrito: están obligados a dártela.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011680"/>
            <a:ext cx="5349240" cy="356616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331720"/>
            <a:ext cx="4617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800" b="1">
                <a:solidFill>
                  <a:srgbClr val="E3B341"/>
                </a:solidFill>
                <a:latin typeface="Avenir Nex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3291840"/>
            <a:ext cx="4617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Avenir Next"/>
              </a:rPr>
              <a:t>La regla del 30%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931920"/>
            <a:ext cx="4617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Avenir Next"/>
              </a:rPr>
              <a:t>Todas tus cuotas juntas no deberían superar el 30% de tu ingreso. Joaquín, con la moto: $11.599 de $40.000 = 29%… justo en el límite, sin colchón.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CENTRAL PARA VOS · BCU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3B341"/>
                </a:solidFill>
                <a:latin typeface="Avenir Next"/>
              </a:rPr>
              <a:t>SEGUNDA PREGUNTA DEL MILLÓN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Avenir Next"/>
              </a:rPr>
              <a:t>¿Le prestarían a Joaquín?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9AA5C8"/>
                </a:solidFill>
                <a:latin typeface="Avenir Next"/>
              </a:rPr>
              <a:t>El banco no lo conoce.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E3B341"/>
                </a:solidFill>
                <a:latin typeface="Avenir Next"/>
              </a:rPr>
              <a:t>Conoce su huella.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84632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07492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Avenir Next"/>
              </a:rPr>
              <a:t>Voten a mano alzada: ¿SÍ o NO?  Guarden la proporción — la volvemos a mirar en 3 slides.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CENTRAL PARA VOS · BCU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3B341"/>
                </a:solidFill>
                <a:latin typeface="Avenir Next"/>
              </a:rPr>
              <a:t>QUÉ MIRA EL BANCO · REGISTRO 1 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venir Next"/>
              </a:rPr>
              <a:t>Central de Riesgos del BCU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5349240" cy="365760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5349240" cy="128016"/>
          </a:xfrm>
          <a:prstGeom prst="roundRect">
            <a:avLst>
              <a:gd name="adj" fmla="val 50000"/>
            </a:avLst>
          </a:prstGeom>
          <a:solidFill>
            <a:srgbClr val="3DD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4617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3DD68C"/>
                </a:solidFill>
                <a:latin typeface="Avenir Next"/>
              </a:rPr>
              <a:t>SÍ registra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880360"/>
            <a:ext cx="4617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Avenir Next"/>
              </a:rPr>
              <a:t>· Tus deudas con el sistema financiero regulado: bancos, financieras, cooperativas.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Avenir Next"/>
              </a:rPr>
              <a:t>· Tu categoría de deudor, del 1 al 5.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3B341"/>
                </a:solidFill>
                <a:latin typeface="Avenir Next"/>
              </a:rPr>
              <a:t>· La refinanciación de la tarjeta de Joaquín figura acá.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920240"/>
            <a:ext cx="5349240" cy="365760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1920240"/>
            <a:ext cx="5349240" cy="128016"/>
          </a:xfrm>
          <a:prstGeom prst="roundRect">
            <a:avLst>
              <a:gd name="adj" fmla="val 50000"/>
            </a:avLst>
          </a:prstGeom>
          <a:solidFill>
            <a:srgbClr val="9AA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240280"/>
            <a:ext cx="4617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9AA5C8"/>
                </a:solidFill>
                <a:latin typeface="Avenir Next"/>
              </a:rPr>
              <a:t>NO registra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880360"/>
            <a:ext cx="4617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Avenir Next"/>
              </a:rPr>
              <a:t>· Facturas de UTE, OSE, alquileres: no son parte del sistema financiero.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Avenir Next"/>
              </a:rPr>
              <a:t>· Cheques rechazados: van por otro registro.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3B341"/>
                </a:solidFill>
                <a:latin typeface="Avenir Next"/>
              </a:rPr>
              <a:t>· El atraso de UTE de Joaquín acá no aparece. ¿Zafa? …falta el segundo registro.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CENTRAL PARA VOS · BCU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3B341"/>
                </a:solidFill>
                <a:latin typeface="Avenir Next"/>
              </a:rPr>
              <a:t>MOMENTO STAND · SAQUEN EL CELULAR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venir Next"/>
              </a:rPr>
              <a:t>Consultá tu huella en el BCU — gratis, ahora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1737360"/>
            <a:ext cx="365760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qr_bc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920240"/>
            <a:ext cx="329184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35240" y="548640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E3B341"/>
                </a:solidFill>
                <a:latin typeface="Avenir Next"/>
              </a:rPr>
              <a:t>consultadeuda.bcu.gub.uy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658368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venir Next"/>
              </a:rPr>
              <a:t>Es gratis y es tuyo.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Avenir Next"/>
              </a:rPr>
              <a:t>Entrás con tu cédula y el período (formato año-mes) y ves tu categoría de deudor al toque.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0">
                <a:solidFill>
                  <a:srgbClr val="9AA5C8"/>
                </a:solidFill>
                <a:latin typeface="Avenir Next"/>
              </a:rPr>
              <a:t>Si no aparecés, tu huella está limpia: el desafío es mantenerla así.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CENTRAL PARA VOS · BCU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3B341"/>
                </a:solidFill>
                <a:latin typeface="Avenir Next"/>
              </a:rPr>
              <a:t>QUÉ MIRA EL BANCO · REGISTRO 2 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venir Next"/>
              </a:rPr>
              <a:t>Clearing de Informes (privado)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3977639" cy="118872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84832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>
                <a:solidFill>
                  <a:srgbClr val="E3B341"/>
                </a:solidFill>
                <a:latin typeface="Avenir Next"/>
              </a:rPr>
              <a:t>Quién te consultó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87168"/>
            <a:ext cx="3474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Avenir Next"/>
              </a:rPr>
              <a:t>Las consultas de empresas en 6 meses. A Joaquín lo miraron 6 veces.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920240"/>
            <a:ext cx="3977639" cy="118872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0" y="2084832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>
                <a:solidFill>
                  <a:srgbClr val="E3B341"/>
                </a:solidFill>
                <a:latin typeface="Avenir Next"/>
              </a:rPr>
              <a:t>Operaciones incumplidas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487168"/>
            <a:ext cx="3474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Avenir Next"/>
              </a:rPr>
              <a:t>Acá SÍ entra la factura de UTE atrasada.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291840"/>
            <a:ext cx="3977639" cy="118872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456432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>
                <a:solidFill>
                  <a:srgbClr val="E3B341"/>
                </a:solidFill>
                <a:latin typeface="Avenir Next"/>
              </a:rPr>
              <a:t>Refinanciaciones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858768"/>
            <a:ext cx="3474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Avenir Next"/>
              </a:rPr>
              <a:t>La tarjeta refinanciada también queda registrada.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3291840"/>
            <a:ext cx="3977639" cy="118872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3456432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>
                <a:solidFill>
                  <a:srgbClr val="E3B341"/>
                </a:solidFill>
                <a:latin typeface="Avenir Next"/>
              </a:rPr>
              <a:t>Cheques rechazados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858768"/>
            <a:ext cx="3474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Avenir Next"/>
              </a:rPr>
              <a:t>El cheque de Joaquín figura, aunque lo haya sustituido.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560320"/>
          </a:xfrm>
          <a:prstGeom prst="roundRect">
            <a:avLst>
              <a:gd name="adj" fmla="val 8000"/>
            </a:avLst>
          </a:prstGeom>
          <a:solidFill>
            <a:srgbClr val="22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2286000"/>
            <a:ext cx="21488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7600" b="1">
                <a:solidFill>
                  <a:srgbClr val="FF6B6B"/>
                </a:solidFill>
                <a:latin typeface="Avenir Next"/>
              </a:rPr>
              <a:t>5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venir Next"/>
              </a:rPr>
              <a:t>años queda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Avenir Next"/>
              </a:rPr>
              <a:t>registrado un incumplimiento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892040"/>
            <a:ext cx="10835640" cy="566928"/>
          </a:xfrm>
          <a:prstGeom prst="roundRect">
            <a:avLst>
              <a:gd name="adj" fmla="val 8000"/>
            </a:avLst>
          </a:prstGeom>
          <a:solidFill>
            <a:srgbClr val="22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010912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E3B341"/>
                </a:solidFill>
                <a:latin typeface="Avenir Next"/>
              </a:rPr>
              <a:t>Los bancos miran los dos registros. Siempre.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CENTRAL PARA VOS · BCU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3B341"/>
                </a:solidFill>
                <a:latin typeface="Avenir Next"/>
              </a:rPr>
              <a:t>MOMENTO STAND · EL OTRO ESPEJO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venir Next"/>
              </a:rPr>
              <a:t>Y así te ves en el Clearing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1737360"/>
            <a:ext cx="365760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qr_clea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920240"/>
            <a:ext cx="329184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35240" y="548640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E3B341"/>
                </a:solidFill>
                <a:latin typeface="Avenir Next"/>
              </a:rPr>
              <a:t>clearing.com.uy/personas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658368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venir Next"/>
              </a:rPr>
              <a:t>Reporte MiClearing: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Avenir Next"/>
              </a:rPr>
              <a:t>tu comportamiento comercial y crediticio — consultas, incumplimientos, refinanciaciones y cheques. Todo lo que un banco ve cuando te mira.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0">
                <a:solidFill>
                  <a:srgbClr val="9AA5C8"/>
                </a:solidFill>
                <a:latin typeface="Avenir Next"/>
              </a:rPr>
              <a:t>Escaneá y guardalo para después.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CENTRAL PARA VOS · BCU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3B341"/>
                </a:solidFill>
                <a:latin typeface="Avenir Next"/>
              </a:rPr>
              <a:t>EL CASO, CERRADO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venir Next"/>
              </a:rPr>
              <a:t>La huella de Joaquín, en limpio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5349240" cy="320040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5B8DEF"/>
                </a:solidFill>
                <a:latin typeface="Avenir Next"/>
              </a:rPr>
              <a:t>Central de Riesgos (BCU)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97480"/>
            <a:ext cx="46177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3DD68C"/>
                </a:solidFill>
                <a:latin typeface="Avenir Next"/>
              </a:rPr>
              <a:t>✓  Préstamo del auto: al día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3DD68C"/>
                </a:solidFill>
                <a:latin typeface="Avenir Next"/>
              </a:rPr>
              <a:t>✓  Tarjeta: sin atraso…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FF6B6B"/>
                </a:solidFill>
                <a:latin typeface="Avenir Next"/>
              </a:rPr>
              <a:t>✗  …pero refinanciada, y eso figura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3DD68C"/>
                </a:solidFill>
                <a:latin typeface="Avenir Next"/>
              </a:rPr>
              <a:t>✓  Nada irrecuperable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874519"/>
            <a:ext cx="5349240" cy="320040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148840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5B8DEF"/>
                </a:solidFill>
                <a:latin typeface="Avenir Next"/>
              </a:rPr>
              <a:t>Clearing de Informes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697480"/>
            <a:ext cx="46177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FF6B6B"/>
                </a:solidFill>
                <a:latin typeface="Avenir Next"/>
              </a:rPr>
              <a:t>✗  UTE: incumplimiento registrado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FF6B6B"/>
                </a:solidFill>
                <a:latin typeface="Avenir Next"/>
              </a:rPr>
              <a:t>✗  Cheque rechazado este mes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FF6B6B"/>
                </a:solidFill>
                <a:latin typeface="Avenir Next"/>
              </a:rPr>
              <a:t>✗  Refinanciación de la tarjeta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E3B341"/>
                </a:solidFill>
                <a:latin typeface="Avenir Next"/>
              </a:rPr>
              <a:t>⚠  6 consultas en 6 meses: anda buscando plata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349240"/>
            <a:ext cx="10835640" cy="868680"/>
          </a:xfrm>
          <a:prstGeom prst="roundRect">
            <a:avLst>
              <a:gd name="adj" fmla="val 8000"/>
            </a:avLst>
          </a:prstGeom>
          <a:solidFill>
            <a:srgbClr val="22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53212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venir Next"/>
              </a:rPr>
              <a:t>Veredicto: puede que le presten… pero más caro, con más requisitos y menos opciones. </a:t>
            </a:r>
            <a:r>
              <a:rPr sz="1600" b="1">
                <a:solidFill>
                  <a:srgbClr val="E3B341"/>
                </a:solidFill>
                <a:latin typeface="Avenir Next"/>
              </a:rPr>
              <a:t>La huella se cobra sola.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CENTRAL PARA VOS · BCU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3B341"/>
                </a:solidFill>
                <a:latin typeface="Avenir Next"/>
              </a:rPr>
              <a:t>LA PREGUNTA QUE NADIE HACE EN VOZ ALTA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venir Next"/>
              </a:rPr>
              <a:t>¿Y si ya estás manchado? Hay salida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5349240" cy="228600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40280"/>
            <a:ext cx="46634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000" b="1">
                <a:solidFill>
                  <a:srgbClr val="3DD68C"/>
                </a:solidFill>
                <a:latin typeface="Avenir Next"/>
              </a:rPr>
              <a:t>117.000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Avenir Next"/>
              </a:rPr>
              <a:t>personas: deudas chicas canceladas automáticamente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965960"/>
            <a:ext cx="5349240" cy="228600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240280"/>
            <a:ext cx="46634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000" b="1">
                <a:solidFill>
                  <a:srgbClr val="3DD68C"/>
                </a:solidFill>
                <a:latin typeface="Avenir Next"/>
              </a:rPr>
              <a:t>95.000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Avenir Next"/>
              </a:rPr>
              <a:t>reestructuraron sin intereses (Programa de Reestructuración 2024–25)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526280"/>
            <a:ext cx="10835640" cy="1005840"/>
          </a:xfrm>
          <a:prstGeom prst="roundRect">
            <a:avLst>
              <a:gd name="adj" fmla="val 8000"/>
            </a:avLst>
          </a:prstGeom>
          <a:solidFill>
            <a:srgbClr val="22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709160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venir Next"/>
              </a:rPr>
              <a:t>El camino: </a:t>
            </a:r>
            <a:r>
              <a:rPr sz="1600" b="0">
                <a:solidFill>
                  <a:srgbClr val="FFFFFF"/>
                </a:solidFill>
                <a:latin typeface="Avenir Next"/>
              </a:rPr>
              <a:t>1) mirá tu huella (consultadeuda) · 2) hablá con tu institución · 3) Unidad de Defensa del Consumidor (MEF)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806440"/>
            <a:ext cx="10835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E3B341"/>
                </a:solidFill>
                <a:latin typeface="Avenir Next"/>
              </a:rPr>
              <a:t>La huella se mancha… y también se reconstruye. El primer paso es mirarla.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CENTRAL PARA VOS · BCU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607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Avenir Next"/>
              </a:rPr>
              <a:t>Tu huella financiera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5400" b="1">
                <a:solidFill>
                  <a:srgbClr val="E3B341"/>
                </a:solidFill>
                <a:latin typeface="Avenir Next"/>
              </a:rPr>
              <a:t>es tu reputación.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9768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>
                <a:solidFill>
                  <a:srgbClr val="9AA5C8"/>
                </a:solidFill>
                <a:latin typeface="Avenir Next"/>
              </a:rPr>
              <a:t>Cada pago a tiempo la construye. Cada atraso la mancha — por años.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CENTRAL PARA VOS · BCU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3B341"/>
                </a:solidFill>
                <a:latin typeface="Avenir Next"/>
              </a:rPr>
              <a:t>ANTES DE FIRMAR CUALQUIER PRÉSTAMO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venir Next"/>
              </a:rPr>
              <a:t>Pasá por PAMY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2606040" cy="338328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28600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200" b="1">
                <a:solidFill>
                  <a:srgbClr val="E3B341"/>
                </a:solidFill>
                <a:latin typeface="Avenir Next"/>
              </a:rP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324612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Avenir Next"/>
              </a:rPr>
              <a:t>Preciso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794760"/>
            <a:ext cx="2148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Avenir Next"/>
              </a:rPr>
              <a:t>¿Lo necesito de verdad? ¿Y lo necesito YA, o puedo esperar?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7580" y="2011680"/>
            <a:ext cx="2606040" cy="338328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53612" y="228600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200" b="1">
                <a:solidFill>
                  <a:srgbClr val="E3B341"/>
                </a:solidFill>
                <a:latin typeface="Avenir Next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53612" y="324612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Avenir Next"/>
              </a:rPr>
              <a:t>Ahorro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53612" y="3794760"/>
            <a:ext cx="2148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Avenir Next"/>
              </a:rPr>
              <a:t>La cuota sale de mi ahorro futuro. ¿Qué gasto voy a comprimir?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011680"/>
            <a:ext cx="2606040" cy="338328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228600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200" b="1">
                <a:solidFill>
                  <a:srgbClr val="E3B341"/>
                </a:solidFill>
                <a:latin typeface="Avenir Next"/>
              </a:rPr>
              <a:t>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324612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Avenir Next"/>
              </a:rPr>
              <a:t>Mejores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3794760"/>
            <a:ext cx="2148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Avenir Next"/>
              </a:rPr>
              <a:t>¿Comparé opciones? ¿Miré el costo TOTAL, no solo la cuota?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21140" y="2011680"/>
            <a:ext cx="2606040" cy="338328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7172" y="228600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200" b="1">
                <a:solidFill>
                  <a:srgbClr val="E3B341"/>
                </a:solidFill>
                <a:latin typeface="Avenir Next"/>
              </a:rPr>
              <a:t>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7172" y="324612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Avenir Next"/>
              </a:rPr>
              <a:t>Y después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7172" y="3794760"/>
            <a:ext cx="2148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Avenir Next"/>
              </a:rPr>
              <a:t>¿Cómo lo pago mes a mes? ¿Cuál es mi plan B si algo falla?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715000"/>
            <a:ext cx="10835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9AA5C8"/>
                </a:solidFill>
                <a:latin typeface="Avenir Next"/>
              </a:rPr>
              <a:t>Cuatro preguntas que separan una decisión de un apuro.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CENTRAL PARA VOS · BCU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3B341"/>
                </a:solidFill>
                <a:latin typeface="Avenir Next"/>
              </a:rPr>
              <a:t>PAMY APLICADO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venir Next"/>
              </a:rPr>
              <a:t>Los tres caminos de Joaquín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3429000" cy="365760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3429000" cy="118872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9AA5C8"/>
                </a:solidFill>
                <a:latin typeface="Avenir Next"/>
              </a:rPr>
              <a:t>HOY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51760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>
                <a:solidFill>
                  <a:srgbClr val="FF6B6B"/>
                </a:solidFill>
                <a:latin typeface="Avenir Next"/>
              </a:rPr>
              <a:t>$300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1188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9AA5C8"/>
                </a:solidFill>
                <a:latin typeface="Avenir Next"/>
              </a:rPr>
              <a:t>libres por 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023360"/>
            <a:ext cx="29260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Avenir Next"/>
              </a:rPr>
              <a:t>· Sin fondo de emergencia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Avenir Next"/>
              </a:rPr>
              <a:t>· Debe $4.000 de UTE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Avenir Next"/>
              </a:rPr>
              <a:t>· Tarjeta al mínimo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1980" y="1920240"/>
            <a:ext cx="3429000" cy="365760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11980" y="1920240"/>
            <a:ext cx="3429000" cy="118872"/>
          </a:xfrm>
          <a:prstGeom prst="roundRect">
            <a:avLst>
              <a:gd name="adj" fmla="val 50000"/>
            </a:avLst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6300" y="219456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9AA5C8"/>
                </a:solidFill>
                <a:latin typeface="Avenir Next"/>
              </a:rPr>
              <a:t>SI ESPERA 4 MESES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6300" y="2651760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>
                <a:solidFill>
                  <a:srgbClr val="E3B341"/>
                </a:solidFill>
                <a:latin typeface="Avenir Next"/>
              </a:rPr>
              <a:t>$4.300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6300" y="361188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9AA5C8"/>
                </a:solidFill>
                <a:latin typeface="Avenir Next"/>
              </a:rPr>
              <a:t>libres por 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6300" y="4023360"/>
            <a:ext cx="29260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Avenir Next"/>
              </a:rPr>
              <a:t>· Termina el préstamo del auto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Avenir Next"/>
              </a:rPr>
              <a:t>· Se pone al día con UTE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Avenir Next"/>
              </a:rPr>
              <a:t>· Y recién ahí decide la moto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920240"/>
            <a:ext cx="3429000" cy="365760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38160" y="1920240"/>
            <a:ext cx="3429000" cy="118872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19456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9AA5C8"/>
                </a:solidFill>
                <a:latin typeface="Avenir Next"/>
              </a:rPr>
              <a:t>CON PRÉSTAMO + DELIVERY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651760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>
                <a:solidFill>
                  <a:srgbClr val="5B8DEF"/>
                </a:solidFill>
                <a:latin typeface="Avenir Next"/>
              </a:rPr>
              <a:t>$2.701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61188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9AA5C8"/>
                </a:solidFill>
                <a:latin typeface="Avenir Next"/>
              </a:rPr>
              <a:t>libres por 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023360"/>
            <a:ext cx="29260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Avenir Next"/>
              </a:rPr>
              <a:t>· +$7.000 de delivery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Avenir Next"/>
              </a:rPr>
              <a:t>· –$4.599 de cuota nueva (24 meses)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Avenir Next"/>
              </a:rPr>
              <a:t>· …si el plan sale como espera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806440"/>
            <a:ext cx="10835640" cy="566928"/>
          </a:xfrm>
          <a:prstGeom prst="roundRect">
            <a:avLst>
              <a:gd name="adj" fmla="val 8000"/>
            </a:avLst>
          </a:prstGeom>
          <a:solidFill>
            <a:srgbClr val="22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925312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Avenir Next"/>
              </a:rPr>
              <a:t>Los tres caminos existen. La diferencia no es la suerte: </a:t>
            </a:r>
            <a:r>
              <a:rPr sz="1500" b="1">
                <a:solidFill>
                  <a:srgbClr val="E3B341"/>
                </a:solidFill>
                <a:latin typeface="Avenir Next"/>
              </a:rPr>
              <a:t>es el plan.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CENTRAL PARA VOS · BCU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3B341"/>
                </a:solidFill>
                <a:latin typeface="Avenir Next"/>
              </a:rPr>
              <a:t>ACTIVIDAD FINAL · CON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venir Next"/>
              </a:rPr>
              <a:t>Ahora vos sos Joaquín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7315200" cy="105156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84832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E3B341"/>
                </a:solidFill>
                <a:latin typeface="Avenir Nex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066544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venir Next"/>
              </a:rPr>
              <a:t>Anotá tu punto de partida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487168"/>
            <a:ext cx="5943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9AA5C8"/>
                </a:solidFill>
                <a:latin typeface="Avenir Next"/>
              </a:rPr>
              <a:t>Del 1 al 7: ¿qué tan convencido estás de pedir el préstamo YA?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154680"/>
            <a:ext cx="7315200" cy="105156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319272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E3B341"/>
                </a:solidFill>
                <a:latin typeface="Avenir Nex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300984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venir Next"/>
              </a:rPr>
              <a:t>Contale tu plan a Valentina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721608"/>
            <a:ext cx="5943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9AA5C8"/>
                </a:solidFill>
                <a:latin typeface="Avenir Next"/>
              </a:rPr>
              <a:t>La asesora virtual (IA) del stand. Hablále en primera persona, como Joaquín.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389120"/>
            <a:ext cx="7315200" cy="105156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553712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E3B341"/>
                </a:solidFill>
                <a:latin typeface="Avenir Nex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535424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venir Next"/>
              </a:rPr>
              <a:t>Bancate sus preguntas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956048"/>
            <a:ext cx="5943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9AA5C8"/>
                </a:solidFill>
                <a:latin typeface="Avenir Next"/>
              </a:rPr>
              <a:t>No te va a dar la respuesta: te va a hacer pensar con PAMY.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1920240"/>
            <a:ext cx="3154680" cy="3611880"/>
          </a:xfrm>
          <a:prstGeom prst="roundRect">
            <a:avLst>
              <a:gd name="adj" fmla="val 8000"/>
            </a:avLst>
          </a:prstGeom>
          <a:solidFill>
            <a:srgbClr val="22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2286000"/>
            <a:ext cx="26060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4400" b="0">
                <a:solidFill>
                  <a:srgbClr val="FFFFFF"/>
                </a:solidFill>
                <a:latin typeface="Avenir Next"/>
              </a:rPr>
              <a:t>👩‍💼</a:t>
            </a:r>
          </a:p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800" b="1">
                <a:solidFill>
                  <a:srgbClr val="E3B341"/>
                </a:solidFill>
                <a:latin typeface="Avenir Next"/>
              </a:rPr>
              <a:t>VALENTINA</a:t>
            </a:r>
          </a:p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venir Next"/>
              </a:rPr>
              <a:t>Asesora financiera virtual del stand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760720"/>
            <a:ext cx="10835640" cy="566928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879592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9AA5C8"/>
                </a:solidFill>
                <a:latin typeface="Avenir Next"/>
              </a:rPr>
              <a:t>Vale cambiar de plan a mitad de camino: esperar, ahorrar primero, comparar. Valentina te sigue.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CENTRAL PARA VOS · BCU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3B341"/>
                </a:solidFill>
                <a:latin typeface="Avenir Next"/>
              </a:rPr>
              <a:t>CIERRE DE LA ACTIVIDAD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venir Next"/>
              </a:rPr>
              <a:t>¿Y ahora?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5349240" cy="150876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6771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E3B341"/>
                </a:solidFill>
                <a:latin typeface="Avenir Next"/>
              </a:rPr>
              <a:t>¿Mantenés la decisión?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Avenir Next"/>
              </a:rPr>
              <a:t>Volvé a puntuar del 1 al 7.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011680"/>
            <a:ext cx="5349240" cy="150876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26771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E3B341"/>
                </a:solidFill>
                <a:latin typeface="Avenir Next"/>
              </a:rPr>
              <a:t>¿Cambió algo?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8346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Avenir Next"/>
              </a:rPr>
              <a:t>¿Subió, bajó… o cambiaste el plan entero?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49039"/>
            <a:ext cx="5349240" cy="150876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0507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E3B341"/>
                </a:solidFill>
                <a:latin typeface="Avenir Next"/>
              </a:rPr>
              <a:t>¿Qué pregunta te hizo dudar más?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5720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Avenir Next"/>
              </a:rPr>
              <a:t>Esa es la que te faltaba hacerte.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49039"/>
            <a:ext cx="5349240" cy="150876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00507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E3B341"/>
                </a:solidFill>
                <a:latin typeface="Avenir Next"/>
              </a:rPr>
              <a:t>¿Y tu voto A/B/C del principio?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5720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Avenir Next"/>
              </a:rPr>
              <a:t>¿Seguís donde estabas parado?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715000"/>
            <a:ext cx="10835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9AA5C8"/>
                </a:solidFill>
                <a:latin typeface="Avenir Next"/>
              </a:rPr>
              <a:t>No hay número correcto: lo que importa es que tu decisión pasó de intuición a decisión pensada.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CENTRAL PARA VOS · BCU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5120640"/>
            <a:ext cx="3840480" cy="3840480"/>
          </a:xfrm>
          <a:prstGeom prst="ellipse">
            <a:avLst/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200" b="1">
                <a:solidFill>
                  <a:srgbClr val="FFFFFF"/>
                </a:solidFill>
                <a:latin typeface="Avenir Next"/>
              </a:rPr>
              <a:t>Un préstamo no es plata extra.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200" b="1">
                <a:solidFill>
                  <a:srgbClr val="E3B341"/>
                </a:solidFill>
                <a:latin typeface="Avenir Next"/>
              </a:rPr>
              <a:t>Es un compromiso de ahorro: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venir Next"/>
              </a:rPr>
              <a:t>el tuyo… y el que le pagás a quien te prestó.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297680"/>
            <a:ext cx="6766560" cy="1371600"/>
          </a:xfrm>
          <a:prstGeom prst="roundRect">
            <a:avLst>
              <a:gd name="adj" fmla="val 8000"/>
            </a:avLst>
          </a:prstGeom>
          <a:solidFill>
            <a:srgbClr val="1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526280"/>
            <a:ext cx="6035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E3B341"/>
                </a:solidFill>
                <a:latin typeface="Avenir Next"/>
              </a:rPr>
              <a:t>Tarea para hoy mismo: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Avenir Next"/>
              </a:rPr>
              <a:t>entrá a consultadeuda.bcu.gub.uy con tu cédula y mirá tu propia huella. Es gratis, y es tuya.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3977639"/>
            <a:ext cx="20116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qr_bc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4069080"/>
            <a:ext cx="182880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E3B341"/>
                </a:solidFill>
                <a:latin typeface="Avenir Next"/>
              </a:rPr>
              <a:t>CENTRAL PARA VOS · LA RUTA DEL BIENESTAR FINANCIERO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CENTRAL PARA VOS · BCU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A5C8"/>
                </a:solidFill>
                <a:latin typeface="Avenir Next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