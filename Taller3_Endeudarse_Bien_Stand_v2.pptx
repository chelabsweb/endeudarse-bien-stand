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9436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</p:spPr>
      </p:sp>
      <p:pic>
        <p:nvPicPr>
          <p:cNvPr id="3" name="Image 0" descr="bc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859536"/>
            <a:ext cx="2688336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402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PARA VOS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RUTA DEL BIENESTAR FINANCIERO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Endeudarse bien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82296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financieras informadas  ·  Taller 3, versión stand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5257800"/>
            <a:ext cx="1051560" cy="1051560"/>
          </a:xfrm>
          <a:prstGeom prst="ellipse">
            <a:avLst/>
          </a:prstGeom>
          <a:solidFill>
            <a:srgbClr val="E8564F"/>
          </a:solidFill>
          <a:ln/>
        </p:spPr>
      </p:sp>
      <p:pic>
        <p:nvPicPr>
          <p:cNvPr id="9" name="Image 1" descr="icons/coins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" y="5518404"/>
            <a:ext cx="530352" cy="5303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03120" y="5257800"/>
            <a:ext cx="1051560" cy="10515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2" descr="icons/motorcycle_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724" y="5518404"/>
            <a:ext cx="530352" cy="53035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383280" y="5257800"/>
            <a:ext cx="1051560" cy="105156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3" descr="icons/sho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5518404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6178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822960"/>
            <a:ext cx="1371600" cy="13716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" name="Image 0" descr="icons/gamepad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17043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46888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Desafío financiero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22960" y="34747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5D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sabés de cómo nos endeudamos los uruguayos?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355848" y="42976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355848" y="42976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Entrá con el celu a </a:t>
            </a:r>
            <a:pPr algn="ctr" indent="0" marL="0">
              <a:buNone/>
            </a:pPr>
            <a:r>
              <a:rPr lang="en-US" sz="2000" b="1" dirty="0">
                <a:solidFill>
                  <a:srgbClr val="4617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kahoot.it</a:t>
            </a:r>
            <a:pPr algn="ctr" indent="0" marL="0">
              <a:buNone/>
            </a:pPr>
            <a:r>
              <a:rPr lang="en-US" sz="20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PIN en pantalla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355848" y="4937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preguntas  ·  ~7 minutos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coin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endeudarse?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Usar hoy plata que no es tuya…
</a:t>
            </a:r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…y devolverla mañana, </a:t>
            </a:r>
            <a:pPr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E8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intereses.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822960" y="4572000"/>
            <a:ext cx="10515600" cy="1280160"/>
          </a:xfrm>
          <a:prstGeom prst="roundRect">
            <a:avLst>
              <a:gd name="adj" fmla="val 5714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7280" y="4572000"/>
            <a:ext cx="9966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Endeudarse no es malo en sí mismo. </a:t>
            </a:r>
            <a:pPr indent="0" marL="0">
              <a:buNone/>
            </a:pPr>
            <a:r>
              <a:rPr lang="en-US" sz="17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un mal endeudamiento puede reflejar falta de opciones o de planificación — y deja marcas que limitan tus opciones futuras.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balanc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toda deuda es igual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6002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34440" y="1965960"/>
            <a:ext cx="777240" cy="777240"/>
          </a:xfrm>
          <a:prstGeom prst="ellipse">
            <a:avLst/>
          </a:prstGeom>
          <a:solidFill>
            <a:srgbClr val="E8564F"/>
          </a:solidFill>
          <a:ln/>
        </p:spPr>
      </p:sp>
      <p:pic>
        <p:nvPicPr>
          <p:cNvPr id="7" name="Image 1" descr="icons/sync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036" y="2162556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9260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para tapar otra deuda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234440" y="37490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Pedís prestado para cancelar lo que ya debés. La deuda no desaparece: se muda de lugar… y casi siempre crece con nuevos intereses.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234440" y="5212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de alerta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91072" y="16002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EAF4EA"/>
          </a:solidFill>
          <a:ln w="12700">
            <a:solidFill>
              <a:srgbClr val="EAF4E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702552" y="1965960"/>
            <a:ext cx="777240" cy="77724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3" name="Image 2" descr="icons/seedling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148" y="216255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02552" y="29260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para un bien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702552" y="37490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Pedís prestado para algo que queda o que genera ingresos: una herramienta de trabajo, arreglar la casa, estudiar.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702552" y="52120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una inversión — si hay plan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char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riesgo: los cinco niveles de deudor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73736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Al día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953512" y="17373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8BA84A"/>
          </a:solidFill>
          <a:ln w="12700">
            <a:solidFill>
              <a:srgbClr val="8BA8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53512" y="173736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Atrasos leves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84064" y="17373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84064" y="173736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Muy atrasado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214616" y="17373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D97B3C"/>
          </a:solidFill>
          <a:ln w="12700">
            <a:solidFill>
              <a:srgbClr val="D97B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14616" y="173736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Alguna deuda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irrecuperable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345168" y="1737360"/>
            <a:ext cx="2029968" cy="91440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345168" y="173736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Todo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irrecuperable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la Central de Riesgos del BCU: de pagar todo a tiempo (1) a tener todas las deudas con más de 180 días de atraso (5). Fuente: BCU, “Endeudamiento de los jóvenes en Uruguay” (2024).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3474720"/>
            <a:ext cx="5074920" cy="2286000"/>
          </a:xfrm>
          <a:prstGeom prst="roundRect">
            <a:avLst>
              <a:gd name="adj" fmla="val 3200"/>
            </a:avLst>
          </a:prstGeom>
          <a:solidFill>
            <a:srgbClr val="EAF4EA"/>
          </a:solidFill>
          <a:ln w="12700">
            <a:solidFill>
              <a:srgbClr val="EAF4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mitad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822960" y="470916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jóvenes deudores está al día,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capacidad de pago fuerte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291072" y="3474720"/>
            <a:ext cx="5074920" cy="2286000"/>
          </a:xfrm>
          <a:prstGeom prst="roundRect">
            <a:avLst>
              <a:gd name="adj" fmla="val 320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91072" y="370332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de cada 3</a:t>
            </a:r>
            <a:endParaRPr lang="en-US" sz="4800" dirty="0"/>
          </a:p>
        </p:txBody>
      </p:sp>
      <p:sp>
        <p:nvSpPr>
          <p:cNvPr id="21" name="Text 18"/>
          <p:cNvSpPr/>
          <p:nvPr/>
        </p:nvSpPr>
        <p:spPr>
          <a:xfrm>
            <a:off x="6291072" y="4709160"/>
            <a:ext cx="5074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TODAS sus deudas en estado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irrecuperable (más de 180 días de atraso)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user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Conocemos a Joaquín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600200"/>
            <a:ext cx="4846320" cy="4297680"/>
          </a:xfrm>
          <a:prstGeom prst="roundRect">
            <a:avLst>
              <a:gd name="adj" fmla="val 1702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pic>
        <p:nvPicPr>
          <p:cNvPr id="6" name="Image 1" descr="icons/user_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920240"/>
            <a:ext cx="1371600" cy="1371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7280" y="34290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Joaquín, 27 años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1097280" y="40233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 en Canelones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de mantenimiento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 $40.000 por mes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6035040" y="160020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55080" y="160020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mes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778240" y="160020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A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$32.700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6035040" y="301752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355080" y="301752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 de deudas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778240" y="301752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8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$7.000</a:t>
            </a:r>
            <a:endParaRPr lang="en-US" sz="3000" dirty="0"/>
          </a:p>
        </p:txBody>
      </p:sp>
      <p:sp>
        <p:nvSpPr>
          <p:cNvPr id="15" name="Shape 11"/>
          <p:cNvSpPr/>
          <p:nvPr/>
        </p:nvSpPr>
        <p:spPr>
          <a:xfrm>
            <a:off x="6035040" y="4434840"/>
            <a:ext cx="5349240" cy="1234440"/>
          </a:xfrm>
          <a:prstGeom prst="roundRect">
            <a:avLst>
              <a:gd name="adj" fmla="val 592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55080" y="443484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queda libre…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8778240" y="4434840"/>
            <a:ext cx="2377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E8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6035040" y="58978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ahorros ni fondo de emergencia.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invoic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historial financiero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664208"/>
            <a:ext cx="685800" cy="685800"/>
          </a:xfrm>
          <a:prstGeom prst="ellipse">
            <a:avLst/>
          </a:prstGeom>
          <a:solidFill>
            <a:srgbClr val="E8564F"/>
          </a:solidFill>
          <a:ln/>
        </p:spPr>
      </p:sp>
      <p:pic>
        <p:nvPicPr>
          <p:cNvPr id="6" name="Image 1" descr="icons/card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837944"/>
            <a:ext cx="338328" cy="338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83080" y="1554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crédito: $10.000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1783080" y="19751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8 meses paga solo el mínimo. La refinanció con una financiera.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458200" y="1645920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58200" y="1645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para tapar deuda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22960" y="2779776"/>
            <a:ext cx="685800" cy="6858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12" name="Image 2" descr="icons/motorcycle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953512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2670048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 del auto: quedan $20.000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1783080" y="30906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día. Le faltan 4 cuotas de $5.000 para terminarlo.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458200" y="2761488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8458200" y="276148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por un bien, al día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2960" y="3895344"/>
            <a:ext cx="685800" cy="685800"/>
          </a:xfrm>
          <a:prstGeom prst="ellipse">
            <a:avLst/>
          </a:prstGeom>
          <a:solidFill>
            <a:srgbClr val="E8564F"/>
          </a:solidFill>
          <a:ln/>
        </p:spPr>
      </p:sp>
      <p:pic>
        <p:nvPicPr>
          <p:cNvPr id="18" name="Image 3" descr="icons/bolt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069080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783080" y="3785616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UTE: debe $4.000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783080" y="4206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meses de atraso en la factura.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8458200" y="3877056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8458200" y="3877056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Incumplimiento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822960" y="5010912"/>
            <a:ext cx="685800" cy="68580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4" name="Image 4" descr="icons/invoic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5184648"/>
            <a:ext cx="338328" cy="33832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83080" y="4901184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cheque rechazado</a:t>
            </a:r>
            <a:endParaRPr lang="en-US" sz="1900" dirty="0"/>
          </a:p>
        </p:txBody>
      </p:sp>
      <p:sp>
        <p:nvSpPr>
          <p:cNvPr id="26" name="Text 19"/>
          <p:cNvSpPr/>
          <p:nvPr/>
        </p:nvSpPr>
        <p:spPr>
          <a:xfrm>
            <a:off x="1783080" y="53218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sustituyó, pero el rechazo quedó registrado.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8458200" y="4992624"/>
            <a:ext cx="29260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8458200" y="4992624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en el historial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en estado irrecuperable — pero la huella ya tiene marcas.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DE JOAQUÍN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5413248" y="1371600"/>
            <a:ext cx="1371600" cy="1371600"/>
          </a:xfrm>
          <a:prstGeom prst="ellipse">
            <a:avLst/>
          </a:prstGeom>
          <a:solidFill>
            <a:srgbClr val="E8564F"/>
          </a:solidFill>
          <a:ln/>
        </p:spPr>
      </p:sp>
      <p:pic>
        <p:nvPicPr>
          <p:cNvPr id="4" name="Image 0" descr="icons/motorcycl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719072"/>
            <a:ext cx="676656" cy="676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01752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Pedir </a:t>
            </a:r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$70.000</a:t>
            </a:r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una moto,</a:t>
            </a:r>
            <a:endParaRPr lang="en-US" sz="3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hacer delivery y sumar </a:t>
            </a:r>
            <a:endParaRPr lang="en-US" sz="3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+$7.000 por mes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5029200"/>
            <a:ext cx="10543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para un bien que genera ingresos. Suena bien…</a:t>
            </a:r>
            <a:endParaRPr lang="en-US" sz="2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¿pero le conviene? ¿Y el banco, le prestaría?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sear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consigue la plata?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97280" y="18105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1" descr="icons/bank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970532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4871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97280" y="2852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Mejores condiciones, más requisitos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434840" y="155448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8105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icons/handusd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0" y="197053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09160" y="24871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Financieras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709160" y="2852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 y fácil… pero más caro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046720" y="155448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21040" y="18105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icons/store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060" y="197053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21040" y="24871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Comercios y casas de crédito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321040" y="28529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“crédito de la casa”, tarjetas propias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22960" y="352044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097280" y="37764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icons/card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7300" y="3936492"/>
            <a:ext cx="320040" cy="3200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97280" y="44531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de crédito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097280" y="48188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plazo. Ojo con el pago mínimo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434840" y="352044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709160" y="37764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5" descr="icons/users_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180" y="3936492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709160" y="44531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Cooperativas y mutuales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709160" y="48188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para socios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8046720" y="3520440"/>
            <a:ext cx="3383280" cy="1783080"/>
          </a:xfrm>
          <a:prstGeom prst="roundRect">
            <a:avLst>
              <a:gd name="adj" fmla="val 4103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321040" y="37764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6" descr="icons/piggy_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1060" y="3936492"/>
            <a:ext cx="320040" cy="3200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321040" y="445312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Microcréditos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8321040" y="481888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emprender o equiparse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822960" y="557784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pic>
        <p:nvPicPr>
          <p:cNvPr id="36" name="Image 7" descr="icons/warn_c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5769864"/>
            <a:ext cx="384048" cy="38404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645920" y="557784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Préstamos informales: </a:t>
            </a:r>
            <a:pPr indent="0" marL="0">
              <a:buNone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riesgo y cero regulación. No recomendados.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calc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“tasita”: la cuota chica engaña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1325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ofertas típicas de financieras. Mirá siempre el costo total: cuota × cantidad de cuotas.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196596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EAF4EA"/>
          </a:solidFill>
          <a:ln w="12700">
            <a:solidFill>
              <a:srgbClr val="EAF4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2286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Pedís $15.000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88720" y="27889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cuotas de $2.999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88720" y="35204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Terminás pagando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88720" y="384048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$17.994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1188720" y="48920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$2.994 de intereses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91072" y="1965960"/>
            <a:ext cx="5074920" cy="3931920"/>
          </a:xfrm>
          <a:prstGeom prst="roundRect">
            <a:avLst>
              <a:gd name="adj" fmla="val 1860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56832" y="2286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Pedís $80.000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656832" y="278892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cuotas de $3.999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656832" y="35204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Terminás pagando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656832" y="3840480"/>
            <a:ext cx="4343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$143.964</a:t>
            </a:r>
            <a:endParaRPr lang="en-US" sz="4400" dirty="0"/>
          </a:p>
        </p:txBody>
      </p:sp>
      <p:sp>
        <p:nvSpPr>
          <p:cNvPr id="17" name="Text 14"/>
          <p:cNvSpPr/>
          <p:nvPr/>
        </p:nvSpPr>
        <p:spPr>
          <a:xfrm>
            <a:off x="6656832" y="48920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$63.964 de intereses: casi otro préstamo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walle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¿Cuotas para quién?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1371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préstamo de $80.000 en 36 cuotas, visto de otra manera: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50392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35608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20824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0604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91256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776472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61688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46904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3212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17336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702552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287768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72984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458200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43416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28632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213848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799064" y="21031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50392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435608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020824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06040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191256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776472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361688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46904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532120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17336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02552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287768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872984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458200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043416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628632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213848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799064" y="26883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8564F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22960" y="374904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22960" y="391363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cuotas</a:t>
            </a:r>
            <a:endParaRPr lang="en-US" sz="3200" dirty="0"/>
          </a:p>
        </p:txBody>
      </p:sp>
      <p:sp>
        <p:nvSpPr>
          <p:cNvPr id="44" name="Text 41"/>
          <p:cNvSpPr/>
          <p:nvPr/>
        </p:nvSpPr>
        <p:spPr>
          <a:xfrm>
            <a:off x="822960" y="45720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pagan la plata que usaste vos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291072" y="3749040"/>
            <a:ext cx="5074920" cy="1371600"/>
          </a:xfrm>
          <a:prstGeom prst="roundRect">
            <a:avLst>
              <a:gd name="adj" fmla="val 5333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91072" y="391363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cuotas</a:t>
            </a:r>
            <a:endParaRPr lang="en-US" sz="3200" dirty="0"/>
          </a:p>
        </p:txBody>
      </p:sp>
      <p:sp>
        <p:nvSpPr>
          <p:cNvPr id="47" name="Text 44"/>
          <p:cNvSpPr/>
          <p:nvPr/>
        </p:nvSpPr>
        <p:spPr>
          <a:xfrm>
            <a:off x="6291072" y="457200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solo para la financiera: intereses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la mitad del esfuerzo no compra nada: paga el costo de no poder esperar.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23444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icons/question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58191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92608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¿Le prestarían a Joaquín?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22960" y="402336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no lo conoce. Conoce su huella.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ban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mira el banco (1): Central de Riesgos del BCU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600200"/>
            <a:ext cx="5074920" cy="3749040"/>
          </a:xfrm>
          <a:prstGeom prst="roundRect">
            <a:avLst>
              <a:gd name="adj" fmla="val 1951"/>
            </a:avLst>
          </a:prstGeom>
          <a:solidFill>
            <a:srgbClr val="EAF4EA"/>
          </a:solidFill>
          <a:ln w="12700">
            <a:solidFill>
              <a:srgbClr val="EAF4EA"/>
            </a:solidFill>
            <a:prstDash val="solid"/>
          </a:ln>
        </p:spPr>
      </p:sp>
      <p:pic>
        <p:nvPicPr>
          <p:cNvPr id="6" name="Image 1" descr="icons/check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9202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 registra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1188720" y="260604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deudas con el sistema financiero regulado: bancos, financieras, cooperativas.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nivel de atraso: la categoría de deudor, del 1 al 5.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refinanciación de la tarjeta de Joaquín figura acá.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291072" y="1600200"/>
            <a:ext cx="5074920" cy="3749040"/>
          </a:xfrm>
          <a:prstGeom prst="roundRect">
            <a:avLst>
              <a:gd name="adj" fmla="val 195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0" name="Image 2" descr="icons/times_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92024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05472" y="1920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registra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6656832" y="260604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Facturas de UTE, OSE, alquileres: no son parte del sistema financiero.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Cheques rechazados: van por otro registro.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atraso de UTE de Joaquín acá no aparece.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22960" y="5623560"/>
            <a:ext cx="10515600" cy="731520"/>
          </a:xfrm>
          <a:prstGeom prst="roundRect">
            <a:avLst>
              <a:gd name="adj" fmla="val 10000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097280" y="56235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Consultá tu propia huella gratis, con tu cédula:  </a:t>
            </a:r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consultadeuda.bcu.gub.uy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ban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consultás tu huella en el BCU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68096" y="1773936"/>
            <a:ext cx="7699248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9"/>
            </a:solidFill>
            <a:prstDash val="solid"/>
          </a:ln>
        </p:spPr>
      </p:sp>
      <p:pic>
        <p:nvPicPr>
          <p:cNvPr id="6" name="Image 1" descr="shot_bcu_fo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7589520" cy="32278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869680" y="1773936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212580" y="2057400"/>
            <a:ext cx="1828800" cy="1828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2" descr="qr_bc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4020" y="2148840"/>
            <a:ext cx="1645920" cy="1645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869680" y="40233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Escaneá y entrá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869680" y="438912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consultadeuda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.bcu.gub.uy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822960" y="5486400"/>
            <a:ext cx="10561320" cy="777240"/>
          </a:xfrm>
          <a:prstGeom prst="roundRect">
            <a:avLst>
              <a:gd name="adj" fmla="val 9412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1097280" y="5486400"/>
            <a:ext cx="10012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gratis y es tuyo: </a:t>
            </a:r>
            <a:pPr indent="0" marL="0">
              <a:buNone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entrás con tu cédula y ves tu categoría de deudor y qué reportaron de vos.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sear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mira el banco (2): Clearing de Informes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1" descr="icons/search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176022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55448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te consultó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737360" y="19385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últimas consultas de empresas en 6 meses. A Joaquín lo miraron 6 veces.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2960" y="262432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2" descr="icons/bolt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2784348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37360" y="257860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incumplidas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1737360" y="29626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Acá SÍ entra la factura de UTE atrasada.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22960" y="364845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3" descr="icons/sync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3808476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737360" y="36027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Refinanciaciones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1737360" y="39867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tarjeta refinanciada también queda registrada.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22960" y="467258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icons/invoice_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832604"/>
            <a:ext cx="320040" cy="3200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737360" y="46268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Cheques rechazados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1737360" y="50109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cheque de Joaquín figura, aunque lo haya sustituido.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7863840" y="155448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863840" y="219456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años</a:t>
            </a:r>
            <a:endParaRPr lang="en-US" sz="6000" dirty="0"/>
          </a:p>
        </p:txBody>
      </p:sp>
      <p:sp>
        <p:nvSpPr>
          <p:cNvPr id="23" name="Text 16"/>
          <p:cNvSpPr/>
          <p:nvPr/>
        </p:nvSpPr>
        <p:spPr>
          <a:xfrm>
            <a:off x="8138160" y="338328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registrado un incumplimiento desde que se anota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822960" y="571500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1097280" y="57150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informe personal:  </a:t>
            </a:r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clearing.com.uy/personas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search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así te ves en el Clearing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768096" y="1682496"/>
            <a:ext cx="7059168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9"/>
            </a:solidFill>
            <a:prstDash val="solid"/>
          </a:ln>
        </p:spPr>
      </p:sp>
      <p:pic>
        <p:nvPicPr>
          <p:cNvPr id="6" name="Image 1" descr="shot_clear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949440" cy="39776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0" y="1682496"/>
            <a:ext cx="3154680" cy="4114800"/>
          </a:xfrm>
          <a:prstGeom prst="roundRect">
            <a:avLst>
              <a:gd name="adj" fmla="val 231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892540" y="2057400"/>
            <a:ext cx="1828800" cy="1828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2" descr="qr_clear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0" y="2148840"/>
            <a:ext cx="1645920" cy="16459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0" y="40690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Escaneá y entrá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229600" y="4434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clearing.com.uy/personas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458200" y="48463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MiClearing: tu comportamiento comercial y crediticio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22960" y="5989320"/>
            <a:ext cx="10561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Consultas, incumplimientos, refinanciaciones y cheques: todo lo que un banco ve cuando te mira.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shoe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huella de Joaquín, en limpio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55448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43000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Central de Riesgos (BCU)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143000" y="237744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Préstamo del auto: al día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Tarjeta: sin atraso…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E8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…pero refinanciada, y eso figura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Nada irrecuperable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91072" y="1554480"/>
            <a:ext cx="5074920" cy="3291840"/>
          </a:xfrm>
          <a:prstGeom prst="roundRect">
            <a:avLst>
              <a:gd name="adj" fmla="val 222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11112" y="1783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Clearing de Informes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1112" y="237744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E8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UTE: incumplimiento registrado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E8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Cheque rechazado este mes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E856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Refinanciación de la tarjeta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6 consultas en 6 meses: anda buscando plata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22960" y="5120640"/>
            <a:ext cx="10515600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5120640"/>
            <a:ext cx="9921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Veredicto: puede que le presten… </a:t>
            </a:r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más caro, con más requisitos y menos opciones. La huella se cobra sola.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18872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" name="Image 0" descr="icons/shoe_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53619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83464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huella financiera</a:t>
            </a:r>
            <a:endParaRPr lang="en-US" sz="4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tu reputación.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47548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pago a tiempo la construye. Cada atraso la mancha — por años.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check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firmar, pasá por PAMY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737360"/>
            <a:ext cx="2615184" cy="4114800"/>
          </a:xfrm>
          <a:prstGeom prst="roundRect">
            <a:avLst>
              <a:gd name="adj" fmla="val 2797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96596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822960" y="32918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Preciso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51560" y="3886200"/>
            <a:ext cx="21579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 necesito de verdad?</a:t>
            </a:r>
            <a:endParaRPr lang="en-US" sz="14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lo necesito YA, o puedo esperar?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3739896" y="1737360"/>
            <a:ext cx="2615184" cy="4114800"/>
          </a:xfrm>
          <a:prstGeom prst="roundRect">
            <a:avLst>
              <a:gd name="adj" fmla="val 2797"/>
            </a:avLst>
          </a:prstGeom>
          <a:solidFill>
            <a:srgbClr val="EAF4EA"/>
          </a:solidFill>
          <a:ln w="12700">
            <a:solidFill>
              <a:srgbClr val="EAF4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39896" y="196596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7200" dirty="0"/>
          </a:p>
        </p:txBody>
      </p:sp>
      <p:sp>
        <p:nvSpPr>
          <p:cNvPr id="11" name="Text 8"/>
          <p:cNvSpPr/>
          <p:nvPr/>
        </p:nvSpPr>
        <p:spPr>
          <a:xfrm>
            <a:off x="3739896" y="32918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Ahorro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968496" y="3886200"/>
            <a:ext cx="21579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cuota sale de mi ahorro futuro.</a:t>
            </a:r>
            <a:endParaRPr lang="en-US" sz="14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gasto voy a comprimir?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656832" y="1737360"/>
            <a:ext cx="2615184" cy="4114800"/>
          </a:xfrm>
          <a:prstGeom prst="roundRect">
            <a:avLst>
              <a:gd name="adj" fmla="val 2797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56832" y="196596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7200" dirty="0"/>
          </a:p>
        </p:txBody>
      </p:sp>
      <p:sp>
        <p:nvSpPr>
          <p:cNvPr id="15" name="Text 12"/>
          <p:cNvSpPr/>
          <p:nvPr/>
        </p:nvSpPr>
        <p:spPr>
          <a:xfrm>
            <a:off x="6656832" y="32918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Mejores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885432" y="3886200"/>
            <a:ext cx="21579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¿Comparé opciones?</a:t>
            </a:r>
            <a:endParaRPr lang="en-US" sz="14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¿Miré el costo TOTAL, no solo la cuota?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9573768" y="1737360"/>
            <a:ext cx="2615184" cy="4114800"/>
          </a:xfrm>
          <a:prstGeom prst="roundRect">
            <a:avLst>
              <a:gd name="adj" fmla="val 2797"/>
            </a:avLst>
          </a:prstGeom>
          <a:solidFill>
            <a:srgbClr val="FDECEA"/>
          </a:solidFill>
          <a:ln w="12700">
            <a:solidFill>
              <a:srgbClr val="FDEC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573768" y="1965960"/>
            <a:ext cx="26151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8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7200" dirty="0"/>
          </a:p>
        </p:txBody>
      </p:sp>
      <p:sp>
        <p:nvSpPr>
          <p:cNvPr id="19" name="Text 16"/>
          <p:cNvSpPr/>
          <p:nvPr/>
        </p:nvSpPr>
        <p:spPr>
          <a:xfrm>
            <a:off x="9573768" y="329184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56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después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802368" y="3886200"/>
            <a:ext cx="21579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lo pago mes a mes?</a:t>
            </a:r>
            <a:endParaRPr lang="en-US" sz="14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mi plan B si algo falla?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822960" y="6035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preguntas que separan una decisión de un apuro.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char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PAMY aplicado: los tres caminos de Joaquín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60020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828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A2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por mes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37033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fondo de emergencia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$4.000 de UTE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al mínimo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434840" y="160020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EAF4EA"/>
          </a:solidFill>
          <a:ln w="12700">
            <a:solidFill>
              <a:srgbClr val="EAF4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34840" y="1828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ESPERA 4 MESES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434840" y="2286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$4.300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443484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por mes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54880" y="37033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el préstamo del auto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ponerse al día con UTE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recién ahí decidir la moto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046720" y="1600200"/>
            <a:ext cx="3383280" cy="4480560"/>
          </a:xfrm>
          <a:prstGeom prst="roundRect">
            <a:avLst>
              <a:gd name="adj" fmla="val 2162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0" y="18288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PRÉSTAMO + DELIVERY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046720" y="2286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$2.701</a:t>
            </a:r>
            <a:endParaRPr lang="en-US" sz="4600" dirty="0"/>
          </a:p>
        </p:txBody>
      </p:sp>
      <p:sp>
        <p:nvSpPr>
          <p:cNvPr id="18" name="Text 15"/>
          <p:cNvSpPr/>
          <p:nvPr/>
        </p:nvSpPr>
        <p:spPr>
          <a:xfrm>
            <a:off x="8046720" y="3154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libres por mes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66760" y="370332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+$7.000 de delivery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–$4.599 de cuota nueva (24 meses)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…si el plan sale como espera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822960" y="62179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caminos existen. La diferencia no es la suerte: es el plan.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robo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 vos sos Joaquín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719072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7190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874520" y="16459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Anotá tu punto de partida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874520" y="21031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1 al 7: ¿qué tan convencido estás de pedir el préstamo?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3090672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0906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1874520" y="30175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Contale tu plan a Valentina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874520" y="34747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asesora virtual (IA) del stand. Hablále en primera persona, como Joaquín.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22960" y="4462272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4622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1874520" y="43891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Bancate sus preguntas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874520" y="48463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va a dar la respuesta: te va a hacer pensar con PAMY.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21040" y="1645920"/>
            <a:ext cx="3063240" cy="3977640"/>
          </a:xfrm>
          <a:prstGeom prst="roundRect">
            <a:avLst>
              <a:gd name="adj" fmla="val 2388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235440" y="2103120"/>
            <a:ext cx="1234440" cy="12344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1" descr="icons/robo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336" y="2414016"/>
            <a:ext cx="612648" cy="61264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321040" y="3566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VALENTINA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321040" y="40233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Asesora financiera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del stand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822960" y="5806440"/>
            <a:ext cx="10515600" cy="685800"/>
          </a:xfrm>
          <a:prstGeom prst="roundRect">
            <a:avLst>
              <a:gd name="adj" fmla="val 10667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097280" y="58064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cambiar de plan a mitad de camino: esperar, ahorrar primero, comparar. Valentina te sigue.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icons/comment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" y="608076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38404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ahora?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22960" y="18288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E9F0FC"/>
          </a:solidFill>
          <a:ln w="12700">
            <a:solidFill>
              <a:srgbClr val="E9F0F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88720" y="199339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¿Mantenés la decisión?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188720" y="249631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Volvé a puntuar del 1 al 7.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324612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EAF4EA"/>
          </a:solidFill>
          <a:ln w="12700">
            <a:solidFill>
              <a:srgbClr val="EAF4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341071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¿Cambió algo?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88720" y="391363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¿Subió, bajó… o cambiaste el plan entero?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22960" y="466344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FBF3DE"/>
          </a:solidFill>
          <a:ln w="12700">
            <a:solidFill>
              <a:srgbClr val="FBF3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482803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pregunta te hizo dudar más?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188720" y="533095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es la que te faltaba hacerte.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097280"/>
            <a:ext cx="1371600" cy="1371600"/>
          </a:xfrm>
          <a:prstGeom prst="ellipse">
            <a:avLst/>
          </a:prstGeom>
          <a:solidFill>
            <a:srgbClr val="E8564F"/>
          </a:solidFill>
          <a:ln/>
        </p:spPr>
      </p:sp>
      <p:pic>
        <p:nvPicPr>
          <p:cNvPr id="3" name="Image 0" descr="icons/piggy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44475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74320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préstamo no es plata extra.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822960" y="37490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de ahorro</a:t>
            </a:r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el tuyo… y el que le pagás a quien te prestó.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22960" y="489204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PARA VOS  ·  LA RUTA DEL BIENESTAR FINANCIERO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951476" y="54864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pic>
        <p:nvPicPr>
          <p:cNvPr id="8" name="Image 1" descr="bcu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2" y="5591556"/>
            <a:ext cx="1892808" cy="539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2026-07-18T17:54:35Z</dcterms:created>
  <dcterms:modified xsi:type="dcterms:W3CDTF">2026-07-18T17:54:35Z</dcterms:modified>
</cp:coreProperties>
</file>